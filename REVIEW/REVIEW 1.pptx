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8288000" cy="10287000"/>
  <p:notesSz cx="6858000" cy="9144000"/>
  <p:embeddedFontLst>
    <p:embeddedFont>
      <p:font typeface="Open Sauce Heavy" charset="1" panose="00000A00000000000000"/>
      <p:regular r:id="rId12"/>
    </p:embeddedFont>
    <p:embeddedFont>
      <p:font typeface="Open Sauce Light" charset="1" panose="00000400000000000000"/>
      <p:regular r:id="rId13"/>
    </p:embeddedFont>
    <p:embeddedFont>
      <p:font typeface="Open Sauce" charset="1" panose="00000500000000000000"/>
      <p:regular r:id="rId14"/>
    </p:embeddedFont>
    <p:embeddedFont>
      <p:font typeface="Open Sauce Bold" charset="1" panose="00000800000000000000"/>
      <p:regular r:id="rId15"/>
    </p:embeddedFont>
    <p:embeddedFont>
      <p:font typeface="Aileron" charset="1" panose="000005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9222" r="0" b="-9222"/>
            </a:stretch>
          </a:blipFill>
        </p:spPr>
      </p:sp>
      <p:sp>
        <p:nvSpPr>
          <p:cNvPr name="TextBox 3" id="3"/>
          <p:cNvSpPr txBox="true"/>
          <p:nvPr/>
        </p:nvSpPr>
        <p:spPr>
          <a:xfrm rot="0">
            <a:off x="435882" y="2535918"/>
            <a:ext cx="8242803" cy="6074778"/>
          </a:xfrm>
          <a:prstGeom prst="rect">
            <a:avLst/>
          </a:prstGeom>
        </p:spPr>
        <p:txBody>
          <a:bodyPr anchor="t" rtlCol="false" tIns="0" lIns="0" bIns="0" rIns="0">
            <a:spAutoFit/>
          </a:bodyPr>
          <a:lstStyle/>
          <a:p>
            <a:pPr algn="l">
              <a:lnSpc>
                <a:spcPts val="9442"/>
              </a:lnSpc>
            </a:pPr>
            <a:r>
              <a:rPr lang="en-US" sz="10979" spc="-516" b="true">
                <a:solidFill>
                  <a:srgbClr val="FFFFFF"/>
                </a:solidFill>
                <a:latin typeface="Open Sauce Heavy"/>
                <a:ea typeface="Open Sauce Heavy"/>
                <a:cs typeface="Open Sauce Heavy"/>
                <a:sym typeface="Open Sauce Heavy"/>
              </a:rPr>
              <a:t>Job Portal with Resume Parsing and Matching         </a:t>
            </a:r>
          </a:p>
        </p:txBody>
      </p:sp>
      <p:sp>
        <p:nvSpPr>
          <p:cNvPr name="TextBox 4" id="4"/>
          <p:cNvSpPr txBox="true"/>
          <p:nvPr/>
        </p:nvSpPr>
        <p:spPr>
          <a:xfrm rot="0">
            <a:off x="9096375" y="8033530"/>
            <a:ext cx="3789175" cy="633209"/>
          </a:xfrm>
          <a:prstGeom prst="rect">
            <a:avLst/>
          </a:prstGeom>
        </p:spPr>
        <p:txBody>
          <a:bodyPr anchor="t" rtlCol="false" tIns="0" lIns="0" bIns="0" rIns="0">
            <a:spAutoFit/>
          </a:bodyPr>
          <a:lstStyle/>
          <a:p>
            <a:pPr algn="l">
              <a:lnSpc>
                <a:spcPts val="5040"/>
              </a:lnSpc>
            </a:pPr>
            <a:r>
              <a:rPr lang="en-US" sz="4000" spc="-224">
                <a:solidFill>
                  <a:srgbClr val="FFFFFF"/>
                </a:solidFill>
                <a:latin typeface="Open Sauce Light"/>
                <a:ea typeface="Open Sauce Light"/>
                <a:cs typeface="Open Sauce Light"/>
                <a:sym typeface="Open Sauce Light"/>
              </a:rPr>
              <a:t>REVIEW 1 </a:t>
            </a:r>
          </a:p>
        </p:txBody>
      </p:sp>
      <p:grpSp>
        <p:nvGrpSpPr>
          <p:cNvPr name="Group 5" id="5"/>
          <p:cNvGrpSpPr/>
          <p:nvPr/>
        </p:nvGrpSpPr>
        <p:grpSpPr>
          <a:xfrm rot="566727">
            <a:off x="10895260" y="-4368833"/>
            <a:ext cx="11215742" cy="1121574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2100"/>
                  </a:srgbClr>
                </a:gs>
                <a:gs pos="25000">
                  <a:srgbClr val="FFFFFF">
                    <a:alpha val="3000"/>
                  </a:srgbClr>
                </a:gs>
                <a:gs pos="50000">
                  <a:srgbClr val="FFFFFF">
                    <a:alpha val="2000"/>
                  </a:srgbClr>
                </a:gs>
                <a:gs pos="75000">
                  <a:srgbClr val="FFFFFF">
                    <a:alpha val="3000"/>
                  </a:srgbClr>
                </a:gs>
                <a:gs pos="100000">
                  <a:srgbClr val="FFFFFF">
                    <a:alpha val="2000"/>
                  </a:srgbClr>
                </a:gs>
              </a:gsLst>
              <a:lin ang="2700000"/>
            </a:gradFill>
            <a:ln w="19050" cap="rnd">
              <a:solidFill>
                <a:srgbClr val="FFFFFF">
                  <a:alpha val="19608"/>
                </a:srgbClr>
              </a:solidFill>
              <a:prstDash val="solid"/>
              <a:round/>
            </a:ln>
          </p:spPr>
        </p:sp>
        <p:sp>
          <p:nvSpPr>
            <p:cNvPr name="TextBox 7" id="7"/>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8" id="8"/>
          <p:cNvGrpSpPr/>
          <p:nvPr/>
        </p:nvGrpSpPr>
        <p:grpSpPr>
          <a:xfrm rot="566727">
            <a:off x="12737741" y="-2526351"/>
            <a:ext cx="7530780" cy="753078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2100"/>
                  </a:srgbClr>
                </a:gs>
                <a:gs pos="25000">
                  <a:srgbClr val="FFFFFF">
                    <a:alpha val="3000"/>
                  </a:srgbClr>
                </a:gs>
                <a:gs pos="50000">
                  <a:srgbClr val="FFFFFF">
                    <a:alpha val="2000"/>
                  </a:srgbClr>
                </a:gs>
                <a:gs pos="75000">
                  <a:srgbClr val="FFFFFF">
                    <a:alpha val="3000"/>
                  </a:srgbClr>
                </a:gs>
                <a:gs pos="100000">
                  <a:srgbClr val="FFFFFF">
                    <a:alpha val="2000"/>
                  </a:srgbClr>
                </a:gs>
              </a:gsLst>
              <a:lin ang="2700000"/>
            </a:gradFill>
            <a:ln w="19050" cap="rnd">
              <a:solidFill>
                <a:srgbClr val="FFFFFF">
                  <a:alpha val="19608"/>
                </a:srgbClr>
              </a:solidFill>
              <a:prstDash val="solid"/>
              <a:round/>
            </a:ln>
          </p:spPr>
        </p:sp>
        <p:sp>
          <p:nvSpPr>
            <p:cNvPr name="TextBox 10" id="10"/>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11" id="11"/>
          <p:cNvSpPr txBox="true"/>
          <p:nvPr/>
        </p:nvSpPr>
        <p:spPr>
          <a:xfrm rot="0">
            <a:off x="12170859" y="7043454"/>
            <a:ext cx="5378743" cy="3189320"/>
          </a:xfrm>
          <a:prstGeom prst="rect">
            <a:avLst/>
          </a:prstGeom>
        </p:spPr>
        <p:txBody>
          <a:bodyPr anchor="t" rtlCol="false" tIns="0" lIns="0" bIns="0" rIns="0">
            <a:spAutoFit/>
          </a:bodyPr>
          <a:lstStyle/>
          <a:p>
            <a:pPr algn="ctr">
              <a:lnSpc>
                <a:spcPts val="4270"/>
              </a:lnSpc>
            </a:pPr>
            <a:r>
              <a:rPr lang="en-US" sz="3389" spc="-189">
                <a:solidFill>
                  <a:srgbClr val="FFFFFF"/>
                </a:solidFill>
                <a:latin typeface="Open Sauce"/>
                <a:ea typeface="Open Sauce"/>
                <a:cs typeface="Open Sauce"/>
                <a:sym typeface="Open Sauce"/>
              </a:rPr>
              <a:t>Course: Database Systems Engineering and Distributed Backend Development</a:t>
            </a:r>
          </a:p>
          <a:p>
            <a:pPr algn="ctr">
              <a:lnSpc>
                <a:spcPts val="4270"/>
              </a:lnSpc>
            </a:pPr>
            <a:r>
              <a:rPr lang="en-US" sz="3389" spc="-189">
                <a:solidFill>
                  <a:srgbClr val="FFFFFF"/>
                </a:solidFill>
                <a:latin typeface="Open Sauce"/>
                <a:ea typeface="Open Sauce"/>
                <a:cs typeface="Open Sauce"/>
                <a:sym typeface="Open Sauce"/>
              </a:rPr>
              <a:t>Course Code: 25CS1302E</a:t>
            </a:r>
          </a:p>
          <a:p>
            <a:pPr algn="ctr">
              <a:lnSpc>
                <a:spcPts val="4270"/>
              </a:lnSpc>
            </a:pPr>
            <a:r>
              <a:rPr lang="en-US" sz="3389" spc="-189">
                <a:solidFill>
                  <a:srgbClr val="FFFFFF"/>
                </a:solidFill>
                <a:latin typeface="Open Sauce"/>
                <a:ea typeface="Open Sauce"/>
                <a:cs typeface="Open Sauce"/>
                <a:sym typeface="Open Sauce"/>
              </a:rPr>
              <a:t>Team No: 12</a:t>
            </a:r>
          </a:p>
          <a:p>
            <a:pPr algn="ctr">
              <a:lnSpc>
                <a:spcPts val="4270"/>
              </a:lnSpc>
            </a:pPr>
          </a:p>
        </p:txBody>
      </p:sp>
      <p:sp>
        <p:nvSpPr>
          <p:cNvPr name="TextBox 12" id="12"/>
          <p:cNvSpPr txBox="true"/>
          <p:nvPr/>
        </p:nvSpPr>
        <p:spPr>
          <a:xfrm rot="0">
            <a:off x="9757945" y="902834"/>
            <a:ext cx="8105706" cy="2274553"/>
          </a:xfrm>
          <a:prstGeom prst="rect">
            <a:avLst/>
          </a:prstGeom>
        </p:spPr>
        <p:txBody>
          <a:bodyPr anchor="t" rtlCol="false" tIns="0" lIns="0" bIns="0" rIns="0">
            <a:spAutoFit/>
          </a:bodyPr>
          <a:lstStyle/>
          <a:p>
            <a:pPr algn="r">
              <a:lnSpc>
                <a:spcPts val="3007"/>
              </a:lnSpc>
            </a:pPr>
            <a:r>
              <a:rPr lang="en-US" b="true" sz="2387" spc="-133">
                <a:solidFill>
                  <a:srgbClr val="FFFFFF"/>
                </a:solidFill>
                <a:latin typeface="Open Sauce Bold"/>
                <a:ea typeface="Open Sauce Bold"/>
                <a:cs typeface="Open Sauce Bold"/>
                <a:sym typeface="Open Sauce Bold"/>
              </a:rPr>
              <a:t>Presented by :         </a:t>
            </a:r>
          </a:p>
          <a:p>
            <a:pPr algn="r">
              <a:lnSpc>
                <a:spcPts val="3007"/>
              </a:lnSpc>
            </a:pPr>
            <a:r>
              <a:rPr lang="en-US" b="true" sz="2387" spc="-133">
                <a:solidFill>
                  <a:srgbClr val="FFFFFF"/>
                </a:solidFill>
                <a:latin typeface="Open Sauce Bold"/>
                <a:ea typeface="Open Sauce Bold"/>
                <a:cs typeface="Open Sauce Bold"/>
                <a:sym typeface="Open Sauce Bold"/>
              </a:rPr>
              <a:t>K. Aasritha Sai Lakshmi — 2520090006</a:t>
            </a:r>
          </a:p>
          <a:p>
            <a:pPr algn="r">
              <a:lnSpc>
                <a:spcPts val="3007"/>
              </a:lnSpc>
            </a:pPr>
            <a:r>
              <a:rPr lang="en-US" b="true" sz="2387" spc="-133">
                <a:solidFill>
                  <a:srgbClr val="FFFFFF"/>
                </a:solidFill>
                <a:latin typeface="Open Sauce Bold"/>
                <a:ea typeface="Open Sauce Bold"/>
                <a:cs typeface="Open Sauce Bold"/>
                <a:sym typeface="Open Sauce Bold"/>
              </a:rPr>
              <a:t>Komali Varnika — 2520090010</a:t>
            </a:r>
          </a:p>
          <a:p>
            <a:pPr algn="r">
              <a:lnSpc>
                <a:spcPts val="3007"/>
              </a:lnSpc>
            </a:pPr>
            <a:r>
              <a:rPr lang="en-US" b="true" sz="2387" spc="-133">
                <a:solidFill>
                  <a:srgbClr val="FFFFFF"/>
                </a:solidFill>
                <a:latin typeface="Open Sauce Bold"/>
                <a:ea typeface="Open Sauce Bold"/>
                <a:cs typeface="Open Sauce Bold"/>
                <a:sym typeface="Open Sauce Bold"/>
              </a:rPr>
              <a:t>Divya Sree — 2520090031</a:t>
            </a:r>
          </a:p>
          <a:p>
            <a:pPr algn="r">
              <a:lnSpc>
                <a:spcPts val="3007"/>
              </a:lnSpc>
            </a:pPr>
            <a:r>
              <a:rPr lang="en-US" b="true" sz="2387" spc="-133">
                <a:solidFill>
                  <a:srgbClr val="FFFFFF"/>
                </a:solidFill>
                <a:latin typeface="Open Sauce Bold"/>
                <a:ea typeface="Open Sauce Bold"/>
                <a:cs typeface="Open Sauce Bold"/>
                <a:sym typeface="Open Sauce Bold"/>
              </a:rPr>
              <a:t>       </a:t>
            </a:r>
          </a:p>
          <a:p>
            <a:pPr algn="r">
              <a:lnSpc>
                <a:spcPts val="3007"/>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9222" r="0" b="-9222"/>
            </a:stretch>
          </a:blipFill>
        </p:spPr>
      </p:sp>
      <p:grpSp>
        <p:nvGrpSpPr>
          <p:cNvPr name="Group 3" id="3"/>
          <p:cNvGrpSpPr/>
          <p:nvPr/>
        </p:nvGrpSpPr>
        <p:grpSpPr>
          <a:xfrm rot="-9278497">
            <a:off x="15831973" y="4919469"/>
            <a:ext cx="6254675" cy="8091735"/>
            <a:chOff x="0" y="0"/>
            <a:chExt cx="812800" cy="1051527"/>
          </a:xfrm>
        </p:grpSpPr>
        <p:sp>
          <p:nvSpPr>
            <p:cNvPr name="Freeform 4" id="4"/>
            <p:cNvSpPr/>
            <p:nvPr/>
          </p:nvSpPr>
          <p:spPr>
            <a:xfrm flipH="false" flipV="false" rot="0">
              <a:off x="0" y="0"/>
              <a:ext cx="812800" cy="1051527"/>
            </a:xfrm>
            <a:custGeom>
              <a:avLst/>
              <a:gdLst/>
              <a:ahLst/>
              <a:cxnLst/>
              <a:rect r="r" b="b" t="t" l="l"/>
              <a:pathLst>
                <a:path h="1051527" w="812800">
                  <a:moveTo>
                    <a:pt x="406400" y="0"/>
                  </a:moveTo>
                  <a:cubicBezTo>
                    <a:pt x="181951" y="0"/>
                    <a:pt x="0" y="235392"/>
                    <a:pt x="0" y="525764"/>
                  </a:cubicBezTo>
                  <a:cubicBezTo>
                    <a:pt x="0" y="816135"/>
                    <a:pt x="181951" y="1051527"/>
                    <a:pt x="406400" y="1051527"/>
                  </a:cubicBezTo>
                  <a:cubicBezTo>
                    <a:pt x="630849" y="1051527"/>
                    <a:pt x="812800" y="816135"/>
                    <a:pt x="812800" y="525764"/>
                  </a:cubicBezTo>
                  <a:cubicBezTo>
                    <a:pt x="812800" y="235392"/>
                    <a:pt x="630849" y="0"/>
                    <a:pt x="406400" y="0"/>
                  </a:cubicBezTo>
                  <a:lnTo>
                    <a:pt x="406400" y="0"/>
                  </a:lnTo>
                  <a:close/>
                </a:path>
              </a:pathLst>
            </a:custGeom>
            <a:gradFill rotWithShape="true">
              <a:gsLst>
                <a:gs pos="0">
                  <a:srgbClr val="FFFFFF">
                    <a:alpha val="1365"/>
                  </a:srgbClr>
                </a:gs>
                <a:gs pos="25000">
                  <a:srgbClr val="FFFFFF">
                    <a:alpha val="1950"/>
                  </a:srgbClr>
                </a:gs>
                <a:gs pos="50000">
                  <a:srgbClr val="FFFFFF">
                    <a:alpha val="1300"/>
                  </a:srgbClr>
                </a:gs>
                <a:gs pos="75000">
                  <a:srgbClr val="FFFFFF">
                    <a:alpha val="1950"/>
                  </a:srgbClr>
                </a:gs>
                <a:gs pos="100000">
                  <a:srgbClr val="FFFFFF">
                    <a:alpha val="1300"/>
                  </a:srgbClr>
                </a:gs>
              </a:gsLst>
              <a:lin ang="2700000"/>
            </a:gradFill>
            <a:ln w="19050" cap="rnd">
              <a:solidFill>
                <a:srgbClr val="FFFFFF">
                  <a:alpha val="12941"/>
                </a:srgbClr>
              </a:solidFill>
              <a:prstDash val="solid"/>
              <a:round/>
            </a:ln>
          </p:spPr>
        </p:sp>
        <p:sp>
          <p:nvSpPr>
            <p:cNvPr name="TextBox 5" id="5"/>
            <p:cNvSpPr txBox="true"/>
            <p:nvPr/>
          </p:nvSpPr>
          <p:spPr>
            <a:xfrm>
              <a:off x="76200" y="184306"/>
              <a:ext cx="660400" cy="768641"/>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6" id="6"/>
          <p:cNvGrpSpPr/>
          <p:nvPr/>
        </p:nvGrpSpPr>
        <p:grpSpPr>
          <a:xfrm rot="-9278497">
            <a:off x="-5803234" y="-4205483"/>
            <a:ext cx="9966661" cy="996666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365"/>
                  </a:srgbClr>
                </a:gs>
                <a:gs pos="25000">
                  <a:srgbClr val="FFFFFF">
                    <a:alpha val="1950"/>
                  </a:srgbClr>
                </a:gs>
                <a:gs pos="50000">
                  <a:srgbClr val="FFFFFF">
                    <a:alpha val="1300"/>
                  </a:srgbClr>
                </a:gs>
                <a:gs pos="75000">
                  <a:srgbClr val="FFFFFF">
                    <a:alpha val="1950"/>
                  </a:srgbClr>
                </a:gs>
                <a:gs pos="100000">
                  <a:srgbClr val="FFFFFF">
                    <a:alpha val="1300"/>
                  </a:srgbClr>
                </a:gs>
              </a:gsLst>
              <a:lin ang="2700000"/>
            </a:gradFill>
            <a:ln w="19050" cap="rnd">
              <a:solidFill>
                <a:srgbClr val="FFFFFF">
                  <a:alpha val="12941"/>
                </a:srgbClr>
              </a:solidFill>
              <a:prstDash val="solid"/>
              <a:round/>
            </a:ln>
          </p:spPr>
        </p:sp>
        <p:sp>
          <p:nvSpPr>
            <p:cNvPr name="TextBox 8" id="8"/>
            <p:cNvSpPr txBox="true"/>
            <p:nvPr/>
          </p:nvSpPr>
          <p:spPr>
            <a:xfrm>
              <a:off x="76200" y="819150"/>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9" id="9"/>
          <p:cNvGrpSpPr/>
          <p:nvPr/>
        </p:nvGrpSpPr>
        <p:grpSpPr>
          <a:xfrm rot="-9278497">
            <a:off x="-2997112" y="-1545956"/>
            <a:ext cx="5213104" cy="521310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365"/>
                  </a:srgbClr>
                </a:gs>
                <a:gs pos="25000">
                  <a:srgbClr val="FFFFFF">
                    <a:alpha val="1950"/>
                  </a:srgbClr>
                </a:gs>
                <a:gs pos="50000">
                  <a:srgbClr val="FFFFFF">
                    <a:alpha val="1300"/>
                  </a:srgbClr>
                </a:gs>
                <a:gs pos="75000">
                  <a:srgbClr val="FFFFFF">
                    <a:alpha val="1950"/>
                  </a:srgbClr>
                </a:gs>
                <a:gs pos="100000">
                  <a:srgbClr val="FFFFFF">
                    <a:alpha val="1300"/>
                  </a:srgbClr>
                </a:gs>
              </a:gsLst>
              <a:lin ang="2700000"/>
            </a:gradFill>
            <a:ln w="19050" cap="rnd">
              <a:solidFill>
                <a:srgbClr val="FFFFFF">
                  <a:alpha val="12941"/>
                </a:srgbClr>
              </a:solidFill>
              <a:prstDash val="solid"/>
              <a:round/>
            </a:ln>
          </p:spPr>
        </p:sp>
        <p:sp>
          <p:nvSpPr>
            <p:cNvPr name="TextBox 11" id="11"/>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12" id="12"/>
          <p:cNvSpPr txBox="true"/>
          <p:nvPr/>
        </p:nvSpPr>
        <p:spPr>
          <a:xfrm rot="0">
            <a:off x="1028700" y="989306"/>
            <a:ext cx="8547528" cy="924331"/>
          </a:xfrm>
          <a:prstGeom prst="rect">
            <a:avLst/>
          </a:prstGeom>
        </p:spPr>
        <p:txBody>
          <a:bodyPr anchor="t" rtlCol="false" tIns="0" lIns="0" bIns="0" rIns="0">
            <a:spAutoFit/>
          </a:bodyPr>
          <a:lstStyle/>
          <a:p>
            <a:pPr algn="l">
              <a:lnSpc>
                <a:spcPts val="6912"/>
              </a:lnSpc>
            </a:pPr>
            <a:r>
              <a:rPr lang="en-US" b="true" sz="7200" spc="-302">
                <a:solidFill>
                  <a:srgbClr val="FFFFFF"/>
                </a:solidFill>
                <a:latin typeface="Open Sauce Bold"/>
                <a:ea typeface="Open Sauce Bold"/>
                <a:cs typeface="Open Sauce Bold"/>
                <a:sym typeface="Open Sauce Bold"/>
              </a:rPr>
              <a:t>ABSTRACT</a:t>
            </a:r>
          </a:p>
        </p:txBody>
      </p:sp>
      <p:sp>
        <p:nvSpPr>
          <p:cNvPr name="TextBox 13" id="13"/>
          <p:cNvSpPr txBox="true"/>
          <p:nvPr/>
        </p:nvSpPr>
        <p:spPr>
          <a:xfrm rot="0">
            <a:off x="556365" y="3127688"/>
            <a:ext cx="17175269" cy="5879973"/>
          </a:xfrm>
          <a:prstGeom prst="rect">
            <a:avLst/>
          </a:prstGeom>
        </p:spPr>
        <p:txBody>
          <a:bodyPr anchor="t" rtlCol="false" tIns="0" lIns="0" bIns="0" rIns="0">
            <a:spAutoFit/>
          </a:bodyPr>
          <a:lstStyle/>
          <a:p>
            <a:pPr algn="l" marL="788277" indent="-394139" lvl="1">
              <a:lnSpc>
                <a:spcPts val="5111"/>
              </a:lnSpc>
              <a:buFont typeface="Arial"/>
              <a:buChar char="•"/>
            </a:pPr>
            <a:r>
              <a:rPr lang="en-US" sz="3651" spc="-273">
                <a:solidFill>
                  <a:srgbClr val="FFFFFF"/>
                </a:solidFill>
                <a:latin typeface="Aileron"/>
                <a:ea typeface="Aileron"/>
                <a:cs typeface="Aileron"/>
                <a:sym typeface="Aileron"/>
              </a:rPr>
              <a:t>Recruitment can be time-consuming because recruiters have to manually check many resumes.</a:t>
            </a:r>
          </a:p>
          <a:p>
            <a:pPr algn="l" marL="788277" indent="-394139" lvl="1">
              <a:lnSpc>
                <a:spcPts val="5111"/>
              </a:lnSpc>
              <a:buFont typeface="Arial"/>
              <a:buChar char="•"/>
            </a:pPr>
            <a:r>
              <a:rPr lang="en-US" sz="3651" spc="-273">
                <a:solidFill>
                  <a:srgbClr val="FFFFFF"/>
                </a:solidFill>
                <a:latin typeface="Aileron"/>
                <a:ea typeface="Aileron"/>
                <a:cs typeface="Aileron"/>
                <a:sym typeface="Aileron"/>
              </a:rPr>
              <a:t>The project Job Portal with Resume Parsing &amp; Matching makes the recruitment process faster and easier.Candidates can upload their resumes, and the system automatically extracts skills, education, andexperience.The system compares the candidate's skills with the job requirements.It provides matching score to help recruiters find suitable candidates.</a:t>
            </a:r>
          </a:p>
          <a:p>
            <a:pPr algn="l" marL="788277" indent="-394139" lvl="1">
              <a:lnSpc>
                <a:spcPts val="5111"/>
              </a:lnSpc>
              <a:buFont typeface="Arial"/>
              <a:buChar char="•"/>
            </a:pPr>
            <a:r>
              <a:rPr lang="en-US" sz="3651" spc="-273">
                <a:solidFill>
                  <a:srgbClr val="FFFFFF"/>
                </a:solidFill>
                <a:latin typeface="Aileron"/>
                <a:ea typeface="Aileron"/>
                <a:cs typeface="Aileron"/>
                <a:sym typeface="Aileron"/>
              </a:rPr>
              <a:t>PostgreSQL/MySQL stores job and candidate information.</a:t>
            </a:r>
          </a:p>
          <a:p>
            <a:pPr algn="l" marL="788277" indent="-394139" lvl="1">
              <a:lnSpc>
                <a:spcPts val="5111"/>
              </a:lnSpc>
              <a:buFont typeface="Arial"/>
              <a:buChar char="•"/>
            </a:pPr>
            <a:r>
              <a:rPr lang="en-US" sz="3651" spc="-273">
                <a:solidFill>
                  <a:srgbClr val="FFFFFF"/>
                </a:solidFill>
                <a:latin typeface="Aileron"/>
                <a:ea typeface="Aileron"/>
                <a:cs typeface="Aileron"/>
                <a:sym typeface="Aileron"/>
              </a:rPr>
              <a:t>MongoDB stores activity and log information.</a:t>
            </a:r>
          </a:p>
          <a:p>
            <a:pPr algn="l" marL="788277" indent="-394139" lvl="1">
              <a:lnSpc>
                <a:spcPts val="5111"/>
              </a:lnSpc>
              <a:buFont typeface="Arial"/>
              <a:buChar char="•"/>
            </a:pPr>
            <a:r>
              <a:rPr lang="en-US" sz="3651" spc="-273">
                <a:solidFill>
                  <a:srgbClr val="FFFFFF"/>
                </a:solidFill>
                <a:latin typeface="Aileron"/>
                <a:ea typeface="Aileron"/>
                <a:cs typeface="Aileron"/>
                <a:sym typeface="Aileron"/>
              </a:rPr>
              <a:t>A Vector Database helps in finding candidates with similar skills.</a:t>
            </a:r>
          </a:p>
          <a:p>
            <a:pPr algn="l" marL="21297" indent="-10648" lvl="1">
              <a:lnSpc>
                <a:spcPts val="138"/>
              </a:lnSpc>
              <a:spcBef>
                <a:spcPct val="0"/>
              </a:spcBef>
              <a:buFont typeface="Arial"/>
              <a:buChar char="•"/>
            </a:pPr>
            <a:r>
              <a:rPr lang="en-US" sz="100" spc="-7">
                <a:solidFill>
                  <a:srgbClr val="FFFFFF"/>
                </a:solidFill>
                <a:latin typeface="Aileron"/>
                <a:ea typeface="Aileron"/>
                <a:cs typeface="Aileron"/>
                <a:sym typeface="Aileron"/>
              </a:rPr>
              <a:t>Overall, the project provides a faster, smarter, and more efficient way to find suitable candidates.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E0637"/>
        </a:solidFill>
      </p:bgPr>
    </p:bg>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9222" r="0" b="-9222"/>
            </a:stretch>
          </a:blipFill>
        </p:spPr>
      </p:sp>
      <p:grpSp>
        <p:nvGrpSpPr>
          <p:cNvPr name="Group 3" id="3"/>
          <p:cNvGrpSpPr/>
          <p:nvPr/>
        </p:nvGrpSpPr>
        <p:grpSpPr>
          <a:xfrm rot="-9278497">
            <a:off x="13587780" y="5089383"/>
            <a:ext cx="9966661" cy="996666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365"/>
                  </a:srgbClr>
                </a:gs>
                <a:gs pos="25000">
                  <a:srgbClr val="FFFFFF">
                    <a:alpha val="1950"/>
                  </a:srgbClr>
                </a:gs>
                <a:gs pos="50000">
                  <a:srgbClr val="FFFFFF">
                    <a:alpha val="1300"/>
                  </a:srgbClr>
                </a:gs>
                <a:gs pos="75000">
                  <a:srgbClr val="FFFFFF">
                    <a:alpha val="1950"/>
                  </a:srgbClr>
                </a:gs>
                <a:gs pos="100000">
                  <a:srgbClr val="FFFFFF">
                    <a:alpha val="1300"/>
                  </a:srgbClr>
                </a:gs>
              </a:gsLst>
              <a:lin ang="2700000"/>
            </a:gradFill>
            <a:ln w="19050" cap="rnd">
              <a:solidFill>
                <a:srgbClr val="FFFFFF">
                  <a:alpha val="12941"/>
                </a:srgbClr>
              </a:solidFill>
              <a:prstDash val="solid"/>
              <a:round/>
            </a:ln>
          </p:spPr>
        </p:sp>
        <p:sp>
          <p:nvSpPr>
            <p:cNvPr name="TextBox 5" id="5"/>
            <p:cNvSpPr txBox="true"/>
            <p:nvPr/>
          </p:nvSpPr>
          <p:spPr>
            <a:xfrm>
              <a:off x="76200" y="819150"/>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6" id="6"/>
          <p:cNvGrpSpPr/>
          <p:nvPr/>
        </p:nvGrpSpPr>
        <p:grpSpPr>
          <a:xfrm rot="-9278497">
            <a:off x="15438586" y="6668025"/>
            <a:ext cx="6254675" cy="625467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365"/>
                  </a:srgbClr>
                </a:gs>
                <a:gs pos="25000">
                  <a:srgbClr val="FFFFFF">
                    <a:alpha val="1950"/>
                  </a:srgbClr>
                </a:gs>
                <a:gs pos="50000">
                  <a:srgbClr val="FFFFFF">
                    <a:alpha val="1300"/>
                  </a:srgbClr>
                </a:gs>
                <a:gs pos="75000">
                  <a:srgbClr val="FFFFFF">
                    <a:alpha val="1950"/>
                  </a:srgbClr>
                </a:gs>
                <a:gs pos="100000">
                  <a:srgbClr val="FFFFFF">
                    <a:alpha val="1300"/>
                  </a:srgbClr>
                </a:gs>
              </a:gsLst>
              <a:lin ang="2700000"/>
            </a:gradFill>
            <a:ln w="19050" cap="rnd">
              <a:solidFill>
                <a:srgbClr val="FFFFFF">
                  <a:alpha val="12941"/>
                </a:srgbClr>
              </a:solidFill>
              <a:prstDash val="solid"/>
              <a:round/>
            </a:ln>
          </p:spPr>
        </p:sp>
        <p:sp>
          <p:nvSpPr>
            <p:cNvPr name="TextBox 8" id="8"/>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9" id="9"/>
          <p:cNvGrpSpPr/>
          <p:nvPr/>
        </p:nvGrpSpPr>
        <p:grpSpPr>
          <a:xfrm rot="-9278497">
            <a:off x="-5803234" y="-4205483"/>
            <a:ext cx="9966661" cy="996666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365"/>
                  </a:srgbClr>
                </a:gs>
                <a:gs pos="25000">
                  <a:srgbClr val="FFFFFF">
                    <a:alpha val="1950"/>
                  </a:srgbClr>
                </a:gs>
                <a:gs pos="50000">
                  <a:srgbClr val="FFFFFF">
                    <a:alpha val="1300"/>
                  </a:srgbClr>
                </a:gs>
                <a:gs pos="75000">
                  <a:srgbClr val="FFFFFF">
                    <a:alpha val="1950"/>
                  </a:srgbClr>
                </a:gs>
                <a:gs pos="100000">
                  <a:srgbClr val="FFFFFF">
                    <a:alpha val="1300"/>
                  </a:srgbClr>
                </a:gs>
              </a:gsLst>
              <a:lin ang="2700000"/>
            </a:gradFill>
            <a:ln w="19050" cap="rnd">
              <a:solidFill>
                <a:srgbClr val="FFFFFF">
                  <a:alpha val="12941"/>
                </a:srgbClr>
              </a:solidFill>
              <a:prstDash val="solid"/>
              <a:round/>
            </a:ln>
          </p:spPr>
        </p:sp>
        <p:sp>
          <p:nvSpPr>
            <p:cNvPr name="TextBox 11" id="11"/>
            <p:cNvSpPr txBox="true"/>
            <p:nvPr/>
          </p:nvSpPr>
          <p:spPr>
            <a:xfrm>
              <a:off x="76200" y="819150"/>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12" id="12"/>
          <p:cNvGrpSpPr/>
          <p:nvPr/>
        </p:nvGrpSpPr>
        <p:grpSpPr>
          <a:xfrm rot="-9278497">
            <a:off x="-2997112" y="-1545956"/>
            <a:ext cx="5213104" cy="5213104"/>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365"/>
                  </a:srgbClr>
                </a:gs>
                <a:gs pos="25000">
                  <a:srgbClr val="FFFFFF">
                    <a:alpha val="1950"/>
                  </a:srgbClr>
                </a:gs>
                <a:gs pos="50000">
                  <a:srgbClr val="FFFFFF">
                    <a:alpha val="1300"/>
                  </a:srgbClr>
                </a:gs>
                <a:gs pos="75000">
                  <a:srgbClr val="FFFFFF">
                    <a:alpha val="1950"/>
                  </a:srgbClr>
                </a:gs>
                <a:gs pos="100000">
                  <a:srgbClr val="FFFFFF">
                    <a:alpha val="1300"/>
                  </a:srgbClr>
                </a:gs>
              </a:gsLst>
              <a:lin ang="2700000"/>
            </a:gradFill>
            <a:ln w="19050" cap="rnd">
              <a:solidFill>
                <a:srgbClr val="FFFFFF">
                  <a:alpha val="12941"/>
                </a:srgbClr>
              </a:solidFill>
              <a:prstDash val="solid"/>
              <a:round/>
            </a:ln>
          </p:spPr>
        </p:sp>
        <p:sp>
          <p:nvSpPr>
            <p:cNvPr name="TextBox 14" id="14"/>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15" id="15"/>
          <p:cNvSpPr txBox="true"/>
          <p:nvPr/>
        </p:nvSpPr>
        <p:spPr>
          <a:xfrm rot="0">
            <a:off x="712467" y="634972"/>
            <a:ext cx="7935924" cy="1219593"/>
          </a:xfrm>
          <a:prstGeom prst="rect">
            <a:avLst/>
          </a:prstGeom>
        </p:spPr>
        <p:txBody>
          <a:bodyPr anchor="t" rtlCol="false" tIns="0" lIns="0" bIns="0" rIns="0">
            <a:spAutoFit/>
          </a:bodyPr>
          <a:lstStyle/>
          <a:p>
            <a:pPr algn="ctr">
              <a:lnSpc>
                <a:spcPts val="9953"/>
              </a:lnSpc>
              <a:spcBef>
                <a:spcPct val="0"/>
              </a:spcBef>
            </a:pPr>
            <a:r>
              <a:rPr lang="en-US" sz="7109" spc="-533">
                <a:solidFill>
                  <a:srgbClr val="FFFFFF"/>
                </a:solidFill>
                <a:latin typeface="Aileron"/>
                <a:ea typeface="Aileron"/>
                <a:cs typeface="Aileron"/>
                <a:sym typeface="Aileron"/>
              </a:rPr>
              <a:t>Problem Statement</a:t>
            </a:r>
          </a:p>
        </p:txBody>
      </p:sp>
      <p:sp>
        <p:nvSpPr>
          <p:cNvPr name="TextBox 16" id="16"/>
          <p:cNvSpPr txBox="true"/>
          <p:nvPr/>
        </p:nvSpPr>
        <p:spPr>
          <a:xfrm rot="0">
            <a:off x="747339" y="3154384"/>
            <a:ext cx="16777157" cy="6237804"/>
          </a:xfrm>
          <a:prstGeom prst="rect">
            <a:avLst/>
          </a:prstGeom>
        </p:spPr>
        <p:txBody>
          <a:bodyPr anchor="t" rtlCol="false" tIns="0" lIns="0" bIns="0" rIns="0">
            <a:spAutoFit/>
          </a:bodyPr>
          <a:lstStyle/>
          <a:p>
            <a:pPr algn="l" marL="1128279" indent="-564139" lvl="1">
              <a:lnSpc>
                <a:spcPts val="7316"/>
              </a:lnSpc>
              <a:buFont typeface="Arial"/>
              <a:buChar char="•"/>
            </a:pPr>
            <a:r>
              <a:rPr lang="en-US" sz="5225" spc="-391">
                <a:solidFill>
                  <a:srgbClr val="FFFFFF"/>
                </a:solidFill>
                <a:latin typeface="Aileron"/>
                <a:ea typeface="Aileron"/>
                <a:cs typeface="Aileron"/>
                <a:sym typeface="Aileron"/>
              </a:rPr>
              <a:t>Recruiters have to manually screen a large number of resumes.</a:t>
            </a:r>
          </a:p>
          <a:p>
            <a:pPr algn="l" marL="1128279" indent="-564139" lvl="1">
              <a:lnSpc>
                <a:spcPts val="7316"/>
              </a:lnSpc>
              <a:buFont typeface="Arial"/>
              <a:buChar char="•"/>
            </a:pPr>
            <a:r>
              <a:rPr lang="en-US" sz="5225" spc="-391">
                <a:solidFill>
                  <a:srgbClr val="FFFFFF"/>
                </a:solidFill>
                <a:latin typeface="Aileron"/>
                <a:ea typeface="Aileron"/>
                <a:cs typeface="Aileron"/>
                <a:sym typeface="Aileron"/>
              </a:rPr>
              <a:t>Resume screening takes a lot of time and effort.</a:t>
            </a:r>
          </a:p>
          <a:p>
            <a:pPr algn="l" marL="1128279" indent="-564139" lvl="1">
              <a:lnSpc>
                <a:spcPts val="7316"/>
              </a:lnSpc>
              <a:buFont typeface="Arial"/>
              <a:buChar char="•"/>
            </a:pPr>
            <a:r>
              <a:rPr lang="en-US" sz="5225" spc="-391">
                <a:solidFill>
                  <a:srgbClr val="FFFFFF"/>
                </a:solidFill>
                <a:latin typeface="Aileron"/>
                <a:ea typeface="Aileron"/>
                <a:cs typeface="Aileron"/>
                <a:sym typeface="Aileron"/>
              </a:rPr>
              <a:t>Finding the right candidate for a specific job can be difficult.</a:t>
            </a:r>
          </a:p>
          <a:p>
            <a:pPr algn="l" marL="1128279" indent="-564139" lvl="1">
              <a:lnSpc>
                <a:spcPts val="7316"/>
              </a:lnSpc>
              <a:buFont typeface="Arial"/>
              <a:buChar char="•"/>
            </a:pPr>
            <a:r>
              <a:rPr lang="en-US" sz="5225" spc="-391">
                <a:solidFill>
                  <a:srgbClr val="FFFFFF"/>
                </a:solidFill>
                <a:latin typeface="Aileron"/>
                <a:ea typeface="Aileron"/>
                <a:cs typeface="Aileron"/>
                <a:sym typeface="Aileron"/>
              </a:rPr>
              <a:t>Manual matching may not accurately identify candidates whose skills fit the job requirements.</a:t>
            </a:r>
          </a:p>
          <a:p>
            <a:pPr algn="l" marL="994945" indent="-497472" lvl="1">
              <a:lnSpc>
                <a:spcPts val="6451"/>
              </a:lnSpc>
              <a:spcBef>
                <a:spcPct val="0"/>
              </a:spcBef>
              <a:buFont typeface="Arial"/>
              <a:buChar char="•"/>
            </a:pPr>
            <a:r>
              <a:rPr lang="en-US" sz="4608" spc="-345">
                <a:solidFill>
                  <a:srgbClr val="FFFFFF"/>
                </a:solidFill>
                <a:latin typeface="Aileron"/>
                <a:ea typeface="Aileron"/>
                <a:cs typeface="Aileron"/>
                <a:sym typeface="Aileron"/>
              </a:rPr>
              <a:t>Managing the complete hiring process can become difficult when the number of applications increases.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9222" r="0" b="-9222"/>
            </a:stretch>
          </a:blipFill>
        </p:spPr>
      </p:sp>
      <p:grpSp>
        <p:nvGrpSpPr>
          <p:cNvPr name="Group 3" id="3"/>
          <p:cNvGrpSpPr/>
          <p:nvPr/>
        </p:nvGrpSpPr>
        <p:grpSpPr>
          <a:xfrm rot="-9278497">
            <a:off x="13587780" y="5089383"/>
            <a:ext cx="9966661" cy="996666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365"/>
                  </a:srgbClr>
                </a:gs>
                <a:gs pos="25000">
                  <a:srgbClr val="FFFFFF">
                    <a:alpha val="1950"/>
                  </a:srgbClr>
                </a:gs>
                <a:gs pos="50000">
                  <a:srgbClr val="FFFFFF">
                    <a:alpha val="1300"/>
                  </a:srgbClr>
                </a:gs>
                <a:gs pos="75000">
                  <a:srgbClr val="FFFFFF">
                    <a:alpha val="1950"/>
                  </a:srgbClr>
                </a:gs>
                <a:gs pos="100000">
                  <a:srgbClr val="FFFFFF">
                    <a:alpha val="1300"/>
                  </a:srgbClr>
                </a:gs>
              </a:gsLst>
              <a:lin ang="2700000"/>
            </a:gradFill>
            <a:ln w="19050" cap="rnd">
              <a:solidFill>
                <a:srgbClr val="FFFFFF">
                  <a:alpha val="12941"/>
                </a:srgbClr>
              </a:solidFill>
              <a:prstDash val="solid"/>
              <a:round/>
            </a:ln>
          </p:spPr>
        </p:sp>
        <p:sp>
          <p:nvSpPr>
            <p:cNvPr name="TextBox 5" id="5"/>
            <p:cNvSpPr txBox="true"/>
            <p:nvPr/>
          </p:nvSpPr>
          <p:spPr>
            <a:xfrm>
              <a:off x="76200" y="819150"/>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6" id="6"/>
          <p:cNvGrpSpPr/>
          <p:nvPr/>
        </p:nvGrpSpPr>
        <p:grpSpPr>
          <a:xfrm rot="-9278497">
            <a:off x="15438586" y="6668025"/>
            <a:ext cx="6254675" cy="625467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365"/>
                  </a:srgbClr>
                </a:gs>
                <a:gs pos="25000">
                  <a:srgbClr val="FFFFFF">
                    <a:alpha val="1950"/>
                  </a:srgbClr>
                </a:gs>
                <a:gs pos="50000">
                  <a:srgbClr val="FFFFFF">
                    <a:alpha val="1300"/>
                  </a:srgbClr>
                </a:gs>
                <a:gs pos="75000">
                  <a:srgbClr val="FFFFFF">
                    <a:alpha val="1950"/>
                  </a:srgbClr>
                </a:gs>
                <a:gs pos="100000">
                  <a:srgbClr val="FFFFFF">
                    <a:alpha val="1300"/>
                  </a:srgbClr>
                </a:gs>
              </a:gsLst>
              <a:lin ang="2700000"/>
            </a:gradFill>
            <a:ln w="19050" cap="rnd">
              <a:solidFill>
                <a:srgbClr val="FFFFFF">
                  <a:alpha val="12941"/>
                </a:srgbClr>
              </a:solidFill>
              <a:prstDash val="solid"/>
              <a:round/>
            </a:ln>
          </p:spPr>
        </p:sp>
        <p:sp>
          <p:nvSpPr>
            <p:cNvPr name="TextBox 8" id="8"/>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9" id="9"/>
          <p:cNvGrpSpPr/>
          <p:nvPr/>
        </p:nvGrpSpPr>
        <p:grpSpPr>
          <a:xfrm rot="-9278497">
            <a:off x="-5803234" y="-4205483"/>
            <a:ext cx="9966661" cy="996666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365"/>
                  </a:srgbClr>
                </a:gs>
                <a:gs pos="25000">
                  <a:srgbClr val="FFFFFF">
                    <a:alpha val="1950"/>
                  </a:srgbClr>
                </a:gs>
                <a:gs pos="50000">
                  <a:srgbClr val="FFFFFF">
                    <a:alpha val="1300"/>
                  </a:srgbClr>
                </a:gs>
                <a:gs pos="75000">
                  <a:srgbClr val="FFFFFF">
                    <a:alpha val="1950"/>
                  </a:srgbClr>
                </a:gs>
                <a:gs pos="100000">
                  <a:srgbClr val="FFFFFF">
                    <a:alpha val="1300"/>
                  </a:srgbClr>
                </a:gs>
              </a:gsLst>
              <a:lin ang="2700000"/>
            </a:gradFill>
            <a:ln w="19050" cap="rnd">
              <a:solidFill>
                <a:srgbClr val="FFFFFF">
                  <a:alpha val="12941"/>
                </a:srgbClr>
              </a:solidFill>
              <a:prstDash val="solid"/>
              <a:round/>
            </a:ln>
          </p:spPr>
        </p:sp>
        <p:sp>
          <p:nvSpPr>
            <p:cNvPr name="TextBox 11" id="11"/>
            <p:cNvSpPr txBox="true"/>
            <p:nvPr/>
          </p:nvSpPr>
          <p:spPr>
            <a:xfrm>
              <a:off x="76200" y="819150"/>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12" id="12"/>
          <p:cNvGrpSpPr/>
          <p:nvPr/>
        </p:nvGrpSpPr>
        <p:grpSpPr>
          <a:xfrm rot="-9278497">
            <a:off x="-2997112" y="-1545956"/>
            <a:ext cx="5213104" cy="5213104"/>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1365"/>
                  </a:srgbClr>
                </a:gs>
                <a:gs pos="25000">
                  <a:srgbClr val="FFFFFF">
                    <a:alpha val="1950"/>
                  </a:srgbClr>
                </a:gs>
                <a:gs pos="50000">
                  <a:srgbClr val="FFFFFF">
                    <a:alpha val="1300"/>
                  </a:srgbClr>
                </a:gs>
                <a:gs pos="75000">
                  <a:srgbClr val="FFFFFF">
                    <a:alpha val="1950"/>
                  </a:srgbClr>
                </a:gs>
                <a:gs pos="100000">
                  <a:srgbClr val="FFFFFF">
                    <a:alpha val="1300"/>
                  </a:srgbClr>
                </a:gs>
              </a:gsLst>
              <a:lin ang="2700000"/>
            </a:gradFill>
            <a:ln w="19050" cap="rnd">
              <a:solidFill>
                <a:srgbClr val="FFFFFF">
                  <a:alpha val="12941"/>
                </a:srgbClr>
              </a:solidFill>
              <a:prstDash val="solid"/>
              <a:round/>
            </a:ln>
          </p:spPr>
        </p:sp>
        <p:sp>
          <p:nvSpPr>
            <p:cNvPr name="TextBox 14" id="14"/>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15" id="15"/>
          <p:cNvSpPr txBox="true"/>
          <p:nvPr/>
        </p:nvSpPr>
        <p:spPr>
          <a:xfrm rot="0">
            <a:off x="1028700" y="644497"/>
            <a:ext cx="5945574" cy="1137186"/>
          </a:xfrm>
          <a:prstGeom prst="rect">
            <a:avLst/>
          </a:prstGeom>
        </p:spPr>
        <p:txBody>
          <a:bodyPr anchor="t" rtlCol="false" tIns="0" lIns="0" bIns="0" rIns="0">
            <a:spAutoFit/>
          </a:bodyPr>
          <a:lstStyle/>
          <a:p>
            <a:pPr algn="ctr">
              <a:lnSpc>
                <a:spcPts val="9359"/>
              </a:lnSpc>
              <a:spcBef>
                <a:spcPct val="0"/>
              </a:spcBef>
            </a:pPr>
            <a:r>
              <a:rPr lang="en-US" sz="6685" spc="-501">
                <a:solidFill>
                  <a:srgbClr val="FFFFFF"/>
                </a:solidFill>
                <a:latin typeface="Aileron"/>
                <a:ea typeface="Aileron"/>
                <a:cs typeface="Aileron"/>
                <a:sym typeface="Aileron"/>
              </a:rPr>
              <a:t>Proposed Solution</a:t>
            </a:r>
          </a:p>
        </p:txBody>
      </p:sp>
      <p:sp>
        <p:nvSpPr>
          <p:cNvPr name="TextBox 16" id="16"/>
          <p:cNvSpPr txBox="true"/>
          <p:nvPr/>
        </p:nvSpPr>
        <p:spPr>
          <a:xfrm rot="0">
            <a:off x="1028700" y="2727528"/>
            <a:ext cx="13371843" cy="5374965"/>
          </a:xfrm>
          <a:prstGeom prst="rect">
            <a:avLst/>
          </a:prstGeom>
        </p:spPr>
        <p:txBody>
          <a:bodyPr anchor="t" rtlCol="false" tIns="0" lIns="0" bIns="0" rIns="0">
            <a:spAutoFit/>
          </a:bodyPr>
          <a:lstStyle/>
          <a:p>
            <a:pPr algn="l" marL="947196" indent="-473598" lvl="1">
              <a:lnSpc>
                <a:spcPts val="6142"/>
              </a:lnSpc>
              <a:buFont typeface="Arial"/>
              <a:buChar char="•"/>
            </a:pPr>
            <a:r>
              <a:rPr lang="en-US" sz="4387" spc="-329">
                <a:solidFill>
                  <a:srgbClr val="FFFFFF"/>
                </a:solidFill>
                <a:latin typeface="Aileron"/>
                <a:ea typeface="Aileron"/>
                <a:cs typeface="Aileron"/>
                <a:sym typeface="Aileron"/>
              </a:rPr>
              <a:t>Candidate uploads resume</a:t>
            </a:r>
          </a:p>
          <a:p>
            <a:pPr algn="l" marL="947196" indent="-473598" lvl="1">
              <a:lnSpc>
                <a:spcPts val="6142"/>
              </a:lnSpc>
              <a:buFont typeface="Arial"/>
              <a:buChar char="•"/>
            </a:pPr>
            <a:r>
              <a:rPr lang="en-US" sz="4387" spc="-329">
                <a:solidFill>
                  <a:srgbClr val="FFFFFF"/>
                </a:solidFill>
                <a:latin typeface="Aileron"/>
                <a:ea typeface="Aileron"/>
                <a:cs typeface="Aileron"/>
                <a:sym typeface="Aileron"/>
              </a:rPr>
              <a:t>Resume parsing extracts text &amp; data</a:t>
            </a:r>
          </a:p>
          <a:p>
            <a:pPr algn="l" marL="947196" indent="-473598" lvl="1">
              <a:lnSpc>
                <a:spcPts val="6142"/>
              </a:lnSpc>
              <a:buFont typeface="Arial"/>
              <a:buChar char="•"/>
            </a:pPr>
            <a:r>
              <a:rPr lang="en-US" sz="4387" spc="-329">
                <a:solidFill>
                  <a:srgbClr val="FFFFFF"/>
                </a:solidFill>
                <a:latin typeface="Aileron"/>
                <a:ea typeface="Aileron"/>
                <a:cs typeface="Aileron"/>
                <a:sym typeface="Aileron"/>
              </a:rPr>
              <a:t>Skills and qualifications identified using NLP</a:t>
            </a:r>
          </a:p>
          <a:p>
            <a:pPr algn="l" marL="947196" indent="-473598" lvl="1">
              <a:lnSpc>
                <a:spcPts val="6142"/>
              </a:lnSpc>
              <a:buFont typeface="Arial"/>
              <a:buChar char="•"/>
            </a:pPr>
            <a:r>
              <a:rPr lang="en-US" sz="4387" spc="-329">
                <a:solidFill>
                  <a:srgbClr val="FFFFFF"/>
                </a:solidFill>
                <a:latin typeface="Aileron"/>
                <a:ea typeface="Aileron"/>
                <a:cs typeface="Aileron"/>
                <a:sym typeface="Aileron"/>
              </a:rPr>
              <a:t>Job requirements compared with candidate profile</a:t>
            </a:r>
          </a:p>
          <a:p>
            <a:pPr algn="l" marL="947196" indent="-473598" lvl="1">
              <a:lnSpc>
                <a:spcPts val="6142"/>
              </a:lnSpc>
              <a:buFont typeface="Arial"/>
              <a:buChar char="•"/>
            </a:pPr>
            <a:r>
              <a:rPr lang="en-US" sz="4387" spc="-329">
                <a:solidFill>
                  <a:srgbClr val="FFFFFF"/>
                </a:solidFill>
                <a:latin typeface="Aileron"/>
                <a:ea typeface="Aileron"/>
                <a:cs typeface="Aileron"/>
                <a:sym typeface="Aileron"/>
              </a:rPr>
              <a:t>Matching score generated for suitability</a:t>
            </a:r>
          </a:p>
          <a:p>
            <a:pPr algn="l" marL="947196" indent="-473598" lvl="1">
              <a:lnSpc>
                <a:spcPts val="6142"/>
              </a:lnSpc>
              <a:buFont typeface="Arial"/>
              <a:buChar char="•"/>
            </a:pPr>
            <a:r>
              <a:rPr lang="en-US" sz="4387" spc="-329">
                <a:solidFill>
                  <a:srgbClr val="FFFFFF"/>
                </a:solidFill>
                <a:latin typeface="Aileron"/>
                <a:ea typeface="Aileron"/>
                <a:cs typeface="Aileron"/>
                <a:sym typeface="Aileron"/>
              </a:rPr>
              <a:t>Recruiter shortlists candidates based on score</a:t>
            </a:r>
          </a:p>
          <a:p>
            <a:pPr algn="l">
              <a:lnSpc>
                <a:spcPts val="6142"/>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9278497">
            <a:off x="-5803234" y="-4205483"/>
            <a:ext cx="9966661" cy="996666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2100"/>
                  </a:srgbClr>
                </a:gs>
                <a:gs pos="25000">
                  <a:srgbClr val="FFFFFF">
                    <a:alpha val="3000"/>
                  </a:srgbClr>
                </a:gs>
                <a:gs pos="50000">
                  <a:srgbClr val="FFFFFF">
                    <a:alpha val="2000"/>
                  </a:srgbClr>
                </a:gs>
                <a:gs pos="75000">
                  <a:srgbClr val="FFFFFF">
                    <a:alpha val="3000"/>
                  </a:srgbClr>
                </a:gs>
                <a:gs pos="100000">
                  <a:srgbClr val="FFFFFF">
                    <a:alpha val="2000"/>
                  </a:srgbClr>
                </a:gs>
              </a:gsLst>
              <a:lin ang="2700000"/>
            </a:gradFill>
            <a:ln w="19050" cap="rnd">
              <a:solidFill>
                <a:srgbClr val="FFFFFF">
                  <a:alpha val="19608"/>
                </a:srgbClr>
              </a:solidFill>
              <a:prstDash val="solid"/>
              <a:round/>
            </a:ln>
          </p:spPr>
        </p:sp>
        <p:sp>
          <p:nvSpPr>
            <p:cNvPr name="TextBox 5" id="5"/>
            <p:cNvSpPr txBox="true"/>
            <p:nvPr/>
          </p:nvSpPr>
          <p:spPr>
            <a:xfrm>
              <a:off x="76200" y="819150"/>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6" id="6"/>
          <p:cNvGrpSpPr/>
          <p:nvPr/>
        </p:nvGrpSpPr>
        <p:grpSpPr>
          <a:xfrm rot="-9278497">
            <a:off x="-2997112" y="-1545956"/>
            <a:ext cx="5213104" cy="521310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2100"/>
                  </a:srgbClr>
                </a:gs>
                <a:gs pos="25000">
                  <a:srgbClr val="FFFFFF">
                    <a:alpha val="3000"/>
                  </a:srgbClr>
                </a:gs>
                <a:gs pos="50000">
                  <a:srgbClr val="FFFFFF">
                    <a:alpha val="2000"/>
                  </a:srgbClr>
                </a:gs>
                <a:gs pos="75000">
                  <a:srgbClr val="FFFFFF">
                    <a:alpha val="3000"/>
                  </a:srgbClr>
                </a:gs>
                <a:gs pos="100000">
                  <a:srgbClr val="FFFFFF">
                    <a:alpha val="2000"/>
                  </a:srgbClr>
                </a:gs>
              </a:gsLst>
              <a:lin ang="2700000"/>
            </a:gradFill>
            <a:ln w="19050" cap="rnd">
              <a:solidFill>
                <a:srgbClr val="FFFFFF">
                  <a:alpha val="19608"/>
                </a:srgbClr>
              </a:solidFill>
              <a:prstDash val="solid"/>
              <a:round/>
            </a:ln>
          </p:spPr>
        </p:sp>
        <p:sp>
          <p:nvSpPr>
            <p:cNvPr name="TextBox 8" id="8"/>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Freeform 9" id="9"/>
          <p:cNvSpPr/>
          <p:nvPr/>
        </p:nvSpPr>
        <p:spPr>
          <a:xfrm flipH="false" flipV="false" rot="0">
            <a:off x="1852321" y="902240"/>
            <a:ext cx="13645971" cy="8740473"/>
          </a:xfrm>
          <a:custGeom>
            <a:avLst/>
            <a:gdLst/>
            <a:ahLst/>
            <a:cxnLst/>
            <a:rect r="r" b="b" t="t" l="l"/>
            <a:pathLst>
              <a:path h="8740473" w="13645971">
                <a:moveTo>
                  <a:pt x="0" y="0"/>
                </a:moveTo>
                <a:lnTo>
                  <a:pt x="13645971" y="0"/>
                </a:lnTo>
                <a:lnTo>
                  <a:pt x="13645971" y="8740473"/>
                </a:lnTo>
                <a:lnTo>
                  <a:pt x="0" y="8740473"/>
                </a:lnTo>
                <a:lnTo>
                  <a:pt x="0" y="0"/>
                </a:lnTo>
                <a:close/>
              </a:path>
            </a:pathLst>
          </a:custGeom>
          <a:blipFill>
            <a:blip r:embed="rId3"/>
            <a:stretch>
              <a:fillRect l="0" t="-489" r="-4816" b="-489"/>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9222" r="0" b="-9222"/>
            </a:stretch>
          </a:blipFill>
        </p:spPr>
      </p:sp>
      <p:grpSp>
        <p:nvGrpSpPr>
          <p:cNvPr name="Group 3" id="3"/>
          <p:cNvGrpSpPr/>
          <p:nvPr/>
        </p:nvGrpSpPr>
        <p:grpSpPr>
          <a:xfrm rot="566727">
            <a:off x="4447463" y="-2040873"/>
            <a:ext cx="17212156" cy="17212156"/>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735"/>
                  </a:srgbClr>
                </a:gs>
                <a:gs pos="25000">
                  <a:srgbClr val="FFFFFF">
                    <a:alpha val="1050"/>
                  </a:srgbClr>
                </a:gs>
                <a:gs pos="50000">
                  <a:srgbClr val="FFFFFF">
                    <a:alpha val="700"/>
                  </a:srgbClr>
                </a:gs>
                <a:gs pos="75000">
                  <a:srgbClr val="FFFFFF">
                    <a:alpha val="1050"/>
                  </a:srgbClr>
                </a:gs>
                <a:gs pos="100000">
                  <a:srgbClr val="FFFFFF">
                    <a:alpha val="700"/>
                  </a:srgbClr>
                </a:gs>
              </a:gsLst>
              <a:lin ang="2700000"/>
            </a:gradFill>
            <a:ln w="19050" cap="rnd">
              <a:solidFill>
                <a:srgbClr val="FFFFFF">
                  <a:alpha val="6667"/>
                </a:srgbClr>
              </a:solidFill>
              <a:prstDash val="solid"/>
              <a:round/>
            </a:ln>
          </p:spPr>
        </p:sp>
        <p:sp>
          <p:nvSpPr>
            <p:cNvPr name="TextBox 5" id="5"/>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6" id="6"/>
          <p:cNvSpPr txBox="true"/>
          <p:nvPr/>
        </p:nvSpPr>
        <p:spPr>
          <a:xfrm rot="0">
            <a:off x="1028700" y="3486583"/>
            <a:ext cx="16230600" cy="2737935"/>
          </a:xfrm>
          <a:prstGeom prst="rect">
            <a:avLst/>
          </a:prstGeom>
        </p:spPr>
        <p:txBody>
          <a:bodyPr anchor="t" rtlCol="false" tIns="0" lIns="0" bIns="0" rIns="0">
            <a:spAutoFit/>
          </a:bodyPr>
          <a:lstStyle/>
          <a:p>
            <a:pPr algn="l">
              <a:lnSpc>
                <a:spcPts val="19673"/>
              </a:lnSpc>
            </a:pPr>
            <a:r>
              <a:rPr lang="en-US" sz="22876" spc="-1075" b="true">
                <a:solidFill>
                  <a:srgbClr val="FFFFFF"/>
                </a:solidFill>
                <a:latin typeface="Open Sauce Heavy"/>
                <a:ea typeface="Open Sauce Heavy"/>
                <a:cs typeface="Open Sauce Heavy"/>
                <a:sym typeface="Open Sauce Heavy"/>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DAHW3XsQfFo</dc:identifier>
  <dcterms:modified xsi:type="dcterms:W3CDTF">2011-08-01T06:04:30Z</dcterms:modified>
  <cp:revision>1</cp:revision>
  <dc:title>Job Portal with Resume Parsing and Matching</dc:title>
</cp:coreProperties>
</file>