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8288000" cy="10287000"/>
  <p:notesSz cx="6858000" cy="9144000"/>
  <p:embeddedFontLst>
    <p:embeddedFont>
      <p:font typeface="Anton" pitchFamily="2" charset="0"/>
      <p:regular r:id="rId10"/>
    </p:embeddedFont>
    <p:embeddedFont>
      <p:font typeface="Times New Roman Bold" panose="02020803070505020304" pitchFamily="18" charset="0"/>
      <p:regular r:id="rId11"/>
      <p:bold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3" d="100"/>
          <a:sy n="43" d="100"/>
        </p:scale>
        <p:origin x="936"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sv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70020F"/>
        </a:solidFill>
        <a:effectLst/>
      </p:bgPr>
    </p:bg>
    <p:spTree>
      <p:nvGrpSpPr>
        <p:cNvPr id="1" name=""/>
        <p:cNvGrpSpPr/>
        <p:nvPr/>
      </p:nvGrpSpPr>
      <p:grpSpPr>
        <a:xfrm>
          <a:off x="0" y="0"/>
          <a:ext cx="0" cy="0"/>
          <a:chOff x="0" y="0"/>
          <a:chExt cx="0" cy="0"/>
        </a:xfrm>
      </p:grpSpPr>
      <p:sp>
        <p:nvSpPr>
          <p:cNvPr id="2" name="Freeform 2"/>
          <p:cNvSpPr/>
          <p:nvPr/>
        </p:nvSpPr>
        <p:spPr>
          <a:xfrm>
            <a:off x="16612257" y="0"/>
            <a:ext cx="1675743" cy="1668194"/>
          </a:xfrm>
          <a:custGeom>
            <a:avLst/>
            <a:gdLst/>
            <a:ahLst/>
            <a:cxnLst/>
            <a:rect l="l" t="t" r="r" b="b"/>
            <a:pathLst>
              <a:path w="1675743" h="1668194">
                <a:moveTo>
                  <a:pt x="0" y="0"/>
                </a:moveTo>
                <a:lnTo>
                  <a:pt x="1675743" y="0"/>
                </a:lnTo>
                <a:lnTo>
                  <a:pt x="1675743" y="1668194"/>
                </a:lnTo>
                <a:lnTo>
                  <a:pt x="0" y="1668194"/>
                </a:lnTo>
                <a:lnTo>
                  <a:pt x="0" y="0"/>
                </a:lnTo>
                <a:close/>
              </a:path>
            </a:pathLst>
          </a:custGeom>
          <a:blipFill>
            <a:blip r:embed="rId2"/>
            <a:stretch>
              <a:fillRect/>
            </a:stretch>
          </a:blipFill>
        </p:spPr>
      </p:sp>
      <p:sp>
        <p:nvSpPr>
          <p:cNvPr id="3" name="TextBox 3"/>
          <p:cNvSpPr txBox="1"/>
          <p:nvPr/>
        </p:nvSpPr>
        <p:spPr>
          <a:xfrm>
            <a:off x="891903" y="897797"/>
            <a:ext cx="8557608" cy="7917963"/>
          </a:xfrm>
          <a:prstGeom prst="rect">
            <a:avLst/>
          </a:prstGeom>
        </p:spPr>
        <p:txBody>
          <a:bodyPr lIns="0" tIns="0" rIns="0" bIns="0" rtlCol="0" anchor="t">
            <a:spAutoFit/>
          </a:bodyPr>
          <a:lstStyle/>
          <a:p>
            <a:pPr algn="l">
              <a:lnSpc>
                <a:spcPts val="12254"/>
              </a:lnSpc>
            </a:pPr>
            <a:r>
              <a:rPr lang="en-US" sz="14417" spc="-706">
                <a:solidFill>
                  <a:srgbClr val="FEDEE1"/>
                </a:solidFill>
                <a:latin typeface="Anton"/>
                <a:ea typeface="Anton"/>
                <a:cs typeface="Anton"/>
                <a:sym typeface="Anton"/>
              </a:rPr>
              <a:t>JOB  PORTAL WITH  RESUME PARSING  &amp; MATCHING</a:t>
            </a:r>
          </a:p>
        </p:txBody>
      </p:sp>
      <p:sp>
        <p:nvSpPr>
          <p:cNvPr id="4" name="TextBox 4"/>
          <p:cNvSpPr txBox="1"/>
          <p:nvPr/>
        </p:nvSpPr>
        <p:spPr>
          <a:xfrm>
            <a:off x="12650736" y="7793838"/>
            <a:ext cx="7809789" cy="1242441"/>
          </a:xfrm>
          <a:prstGeom prst="rect">
            <a:avLst/>
          </a:prstGeom>
        </p:spPr>
        <p:txBody>
          <a:bodyPr lIns="0" tIns="0" rIns="0" bIns="0" rtlCol="0" anchor="t">
            <a:spAutoFit/>
          </a:bodyPr>
          <a:lstStyle/>
          <a:p>
            <a:pPr algn="l">
              <a:lnSpc>
                <a:spcPts val="2472"/>
              </a:lnSpc>
            </a:pPr>
            <a:r>
              <a:rPr lang="en-US" sz="2400" spc="96">
                <a:solidFill>
                  <a:srgbClr val="FFFFFF"/>
                </a:solidFill>
                <a:latin typeface="Times New Roman"/>
                <a:ea typeface="Times New Roman"/>
                <a:cs typeface="Times New Roman"/>
                <a:sym typeface="Times New Roman"/>
              </a:rPr>
              <a:t>K.Aasritha sai Lakshmi-2520090006</a:t>
            </a:r>
          </a:p>
          <a:p>
            <a:pPr algn="l">
              <a:lnSpc>
                <a:spcPts val="2472"/>
              </a:lnSpc>
            </a:pPr>
            <a:r>
              <a:rPr lang="en-US" sz="2400" spc="96">
                <a:solidFill>
                  <a:srgbClr val="FFFFFF"/>
                </a:solidFill>
                <a:latin typeface="Times New Roman"/>
                <a:ea typeface="Times New Roman"/>
                <a:cs typeface="Times New Roman"/>
                <a:sym typeface="Times New Roman"/>
              </a:rPr>
              <a:t>Komali varnika-2520090010</a:t>
            </a:r>
          </a:p>
          <a:p>
            <a:pPr algn="l">
              <a:lnSpc>
                <a:spcPts val="2472"/>
              </a:lnSpc>
            </a:pPr>
            <a:r>
              <a:rPr lang="en-US" sz="2400" spc="96">
                <a:solidFill>
                  <a:srgbClr val="FFFFFF"/>
                </a:solidFill>
                <a:latin typeface="Times New Roman"/>
                <a:ea typeface="Times New Roman"/>
                <a:cs typeface="Times New Roman"/>
                <a:sym typeface="Times New Roman"/>
              </a:rPr>
              <a:t>Divya sree-2520090031</a:t>
            </a:r>
          </a:p>
          <a:p>
            <a:pPr algn="l">
              <a:lnSpc>
                <a:spcPts val="2472"/>
              </a:lnSpc>
            </a:pPr>
            <a:endParaRPr lang="en-US" sz="2400" spc="96">
              <a:solidFill>
                <a:srgbClr val="FFFFFF"/>
              </a:solidFill>
              <a:latin typeface="Times New Roman"/>
              <a:ea typeface="Times New Roman"/>
              <a:cs typeface="Times New Roman"/>
              <a:sym typeface="Times New Roman"/>
            </a:endParaRPr>
          </a:p>
        </p:txBody>
      </p:sp>
      <p:sp>
        <p:nvSpPr>
          <p:cNvPr id="5" name="TextBox 5"/>
          <p:cNvSpPr txBox="1"/>
          <p:nvPr/>
        </p:nvSpPr>
        <p:spPr>
          <a:xfrm>
            <a:off x="12650736" y="7181044"/>
            <a:ext cx="2578150" cy="371475"/>
          </a:xfrm>
          <a:prstGeom prst="rect">
            <a:avLst/>
          </a:prstGeom>
        </p:spPr>
        <p:txBody>
          <a:bodyPr lIns="0" tIns="0" rIns="0" bIns="0" rtlCol="0" anchor="t">
            <a:spAutoFit/>
          </a:bodyPr>
          <a:lstStyle/>
          <a:p>
            <a:pPr algn="ctr">
              <a:lnSpc>
                <a:spcPts val="2879"/>
              </a:lnSpc>
              <a:spcBef>
                <a:spcPct val="0"/>
              </a:spcBef>
            </a:pPr>
            <a:r>
              <a:rPr lang="en-US" sz="2400" spc="-24">
                <a:solidFill>
                  <a:srgbClr val="FFFFFF"/>
                </a:solidFill>
                <a:latin typeface="Times New Roman"/>
                <a:ea typeface="Times New Roman"/>
                <a:cs typeface="Times New Roman"/>
                <a:sym typeface="Times New Roman"/>
              </a:rPr>
              <a:t>TEAM   Number:12  </a:t>
            </a:r>
          </a:p>
        </p:txBody>
      </p:sp>
      <p:sp>
        <p:nvSpPr>
          <p:cNvPr id="6" name="TextBox 6"/>
          <p:cNvSpPr txBox="1"/>
          <p:nvPr/>
        </p:nvSpPr>
        <p:spPr>
          <a:xfrm>
            <a:off x="8509258" y="3236425"/>
            <a:ext cx="9690294" cy="1076324"/>
          </a:xfrm>
          <a:prstGeom prst="rect">
            <a:avLst/>
          </a:prstGeom>
        </p:spPr>
        <p:txBody>
          <a:bodyPr lIns="0" tIns="0" rIns="0" bIns="0" rtlCol="0" anchor="t">
            <a:spAutoFit/>
          </a:bodyPr>
          <a:lstStyle/>
          <a:p>
            <a:pPr algn="ctr">
              <a:lnSpc>
                <a:spcPts val="4200"/>
              </a:lnSpc>
            </a:pPr>
            <a:r>
              <a:rPr lang="en-US" sz="3000" b="1">
                <a:solidFill>
                  <a:srgbClr val="FFFFFF"/>
                </a:solidFill>
                <a:latin typeface="Times New Roman Bold"/>
                <a:ea typeface="Times New Roman Bold"/>
                <a:cs typeface="Times New Roman Bold"/>
                <a:sym typeface="Times New Roman Bold"/>
              </a:rPr>
              <a:t>Course Name :DATABASE SYSTEMS ENGINEERING AND DISTRIBUTED BACKEND DEVELOPMENT </a:t>
            </a:r>
          </a:p>
        </p:txBody>
      </p:sp>
      <p:sp>
        <p:nvSpPr>
          <p:cNvPr id="7" name="TextBox 7"/>
          <p:cNvSpPr txBox="1"/>
          <p:nvPr/>
        </p:nvSpPr>
        <p:spPr>
          <a:xfrm>
            <a:off x="8509258" y="4560570"/>
            <a:ext cx="9690294" cy="582930"/>
          </a:xfrm>
          <a:prstGeom prst="rect">
            <a:avLst/>
          </a:prstGeom>
        </p:spPr>
        <p:txBody>
          <a:bodyPr lIns="0" tIns="0" rIns="0" bIns="0" rtlCol="0" anchor="t">
            <a:spAutoFit/>
          </a:bodyPr>
          <a:lstStyle/>
          <a:p>
            <a:pPr algn="ctr">
              <a:lnSpc>
                <a:spcPts val="4620"/>
              </a:lnSpc>
            </a:pPr>
            <a:r>
              <a:rPr lang="en-US" sz="3300" b="1">
                <a:solidFill>
                  <a:srgbClr val="FFFFFF"/>
                </a:solidFill>
                <a:latin typeface="Times New Roman Bold"/>
                <a:ea typeface="Times New Roman Bold"/>
                <a:cs typeface="Times New Roman Bold"/>
                <a:sym typeface="Times New Roman Bold"/>
              </a:rPr>
              <a:t>Course Code : 25CS1302E</a:t>
            </a:r>
          </a:p>
        </p:txBody>
      </p:sp>
      <p:sp>
        <p:nvSpPr>
          <p:cNvPr id="8" name="TextBox 8"/>
          <p:cNvSpPr txBox="1"/>
          <p:nvPr/>
        </p:nvSpPr>
        <p:spPr>
          <a:xfrm>
            <a:off x="1058205" y="9064854"/>
            <a:ext cx="1831702" cy="415468"/>
          </a:xfrm>
          <a:prstGeom prst="rect">
            <a:avLst/>
          </a:prstGeom>
        </p:spPr>
        <p:txBody>
          <a:bodyPr lIns="0" tIns="0" rIns="0" bIns="0" rtlCol="0" anchor="t">
            <a:spAutoFit/>
          </a:bodyPr>
          <a:lstStyle/>
          <a:p>
            <a:pPr algn="ctr">
              <a:lnSpc>
                <a:spcPts val="3007"/>
              </a:lnSpc>
              <a:spcBef>
                <a:spcPct val="0"/>
              </a:spcBef>
            </a:pPr>
            <a:r>
              <a:rPr lang="en-US" sz="2919" spc="116">
                <a:solidFill>
                  <a:srgbClr val="FFFFFF"/>
                </a:solidFill>
                <a:latin typeface="Times New Roman"/>
                <a:ea typeface="Times New Roman"/>
                <a:cs typeface="Times New Roman"/>
                <a:sym typeface="Times New Roman"/>
              </a:rPr>
              <a:t>REVIEW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EDEE1"/>
        </a:solidFill>
        <a:effectLst/>
      </p:bgPr>
    </p:bg>
    <p:spTree>
      <p:nvGrpSpPr>
        <p:cNvPr id="1" name=""/>
        <p:cNvGrpSpPr/>
        <p:nvPr/>
      </p:nvGrpSpPr>
      <p:grpSpPr>
        <a:xfrm>
          <a:off x="0" y="0"/>
          <a:ext cx="0" cy="0"/>
          <a:chOff x="0" y="0"/>
          <a:chExt cx="0" cy="0"/>
        </a:xfrm>
      </p:grpSpPr>
      <p:sp>
        <p:nvSpPr>
          <p:cNvPr id="2" name="TextBox 2"/>
          <p:cNvSpPr txBox="1"/>
          <p:nvPr/>
        </p:nvSpPr>
        <p:spPr>
          <a:xfrm>
            <a:off x="195983" y="2200275"/>
            <a:ext cx="17448770" cy="7410450"/>
          </a:xfrm>
          <a:prstGeom prst="rect">
            <a:avLst/>
          </a:prstGeom>
        </p:spPr>
        <p:txBody>
          <a:bodyPr lIns="0" tIns="0" rIns="0" bIns="0" rtlCol="0" anchor="t">
            <a:spAutoFit/>
          </a:bodyPr>
          <a:lstStyle/>
          <a:p>
            <a:pPr marL="965118" lvl="1" indent="-482559" algn="just">
              <a:lnSpc>
                <a:spcPts val="5364"/>
              </a:lnSpc>
              <a:buFont typeface="Arial"/>
              <a:buChar char="•"/>
            </a:pPr>
            <a:r>
              <a:rPr lang="en-US" sz="4470" spc="-44">
                <a:solidFill>
                  <a:srgbClr val="000000"/>
                </a:solidFill>
                <a:latin typeface="Times New Roman"/>
                <a:ea typeface="Times New Roman"/>
                <a:cs typeface="Times New Roman"/>
                <a:sym typeface="Times New Roman"/>
              </a:rPr>
              <a:t>Traditional recruitment processes are slow and mostly manual.</a:t>
            </a:r>
          </a:p>
          <a:p>
            <a:pPr marL="965118" lvl="1" indent="-482559" algn="just">
              <a:lnSpc>
                <a:spcPts val="5364"/>
              </a:lnSpc>
              <a:buFont typeface="Arial"/>
              <a:buChar char="•"/>
            </a:pPr>
            <a:r>
              <a:rPr lang="en-US" sz="4470" spc="-44">
                <a:solidFill>
                  <a:srgbClr val="000000"/>
                </a:solidFill>
                <a:latin typeface="Times New Roman"/>
                <a:ea typeface="Times New Roman"/>
                <a:cs typeface="Times New Roman"/>
                <a:sym typeface="Times New Roman"/>
              </a:rPr>
              <a:t>Recruiters face difficulty in handling large numbers of applications.</a:t>
            </a:r>
          </a:p>
          <a:p>
            <a:pPr marL="965118" lvl="1" indent="-482559" algn="just">
              <a:lnSpc>
                <a:spcPts val="5364"/>
              </a:lnSpc>
              <a:buFont typeface="Arial"/>
              <a:buChar char="•"/>
            </a:pPr>
            <a:r>
              <a:rPr lang="en-US" sz="4470" spc="-44">
                <a:solidFill>
                  <a:srgbClr val="000000"/>
                </a:solidFill>
                <a:latin typeface="Times New Roman"/>
                <a:ea typeface="Times New Roman"/>
                <a:cs typeface="Times New Roman"/>
                <a:sym typeface="Times New Roman"/>
              </a:rPr>
              <a:t>The proposed system automates the recruitment process from application to hiring.</a:t>
            </a:r>
          </a:p>
          <a:p>
            <a:pPr marL="965118" lvl="1" indent="-482559" algn="just">
              <a:lnSpc>
                <a:spcPts val="5364"/>
              </a:lnSpc>
              <a:buFont typeface="Arial"/>
              <a:buChar char="•"/>
            </a:pPr>
            <a:r>
              <a:rPr lang="en-US" sz="4470" spc="-44">
                <a:solidFill>
                  <a:srgbClr val="000000"/>
                </a:solidFill>
                <a:latin typeface="Times New Roman"/>
                <a:ea typeface="Times New Roman"/>
                <a:cs typeface="Times New Roman"/>
                <a:sym typeface="Times New Roman"/>
              </a:rPr>
              <a:t>It automatically analyzes and extracts important information from resumes.</a:t>
            </a:r>
          </a:p>
          <a:p>
            <a:pPr marL="965118" lvl="1" indent="-482559" algn="just">
              <a:lnSpc>
                <a:spcPts val="5364"/>
              </a:lnSpc>
              <a:buFont typeface="Arial"/>
              <a:buChar char="•"/>
            </a:pPr>
            <a:r>
              <a:rPr lang="en-US" sz="4470" spc="-44">
                <a:solidFill>
                  <a:srgbClr val="000000"/>
                </a:solidFill>
                <a:latin typeface="Times New Roman"/>
                <a:ea typeface="Times New Roman"/>
                <a:cs typeface="Times New Roman"/>
                <a:sym typeface="Times New Roman"/>
              </a:rPr>
              <a:t>Candidate skills and qualifications are matched with job requirements.</a:t>
            </a:r>
          </a:p>
          <a:p>
            <a:pPr marL="965118" lvl="1" indent="-482559" algn="just">
              <a:lnSpc>
                <a:spcPts val="5364"/>
              </a:lnSpc>
              <a:buFont typeface="Arial"/>
              <a:buChar char="•"/>
            </a:pPr>
            <a:r>
              <a:rPr lang="en-US" sz="4470" spc="-44">
                <a:solidFill>
                  <a:srgbClr val="000000"/>
                </a:solidFill>
                <a:latin typeface="Times New Roman"/>
                <a:ea typeface="Times New Roman"/>
                <a:cs typeface="Times New Roman"/>
                <a:sym typeface="Times New Roman"/>
              </a:rPr>
              <a:t>The system uses intelligent matching to identify the most suitable candidates.</a:t>
            </a:r>
          </a:p>
          <a:p>
            <a:pPr algn="just">
              <a:lnSpc>
                <a:spcPts val="5124"/>
              </a:lnSpc>
            </a:pPr>
            <a:endParaRPr lang="en-US" sz="4470" spc="-44">
              <a:solidFill>
                <a:srgbClr val="000000"/>
              </a:solidFill>
              <a:latin typeface="Times New Roman"/>
              <a:ea typeface="Times New Roman"/>
              <a:cs typeface="Times New Roman"/>
              <a:sym typeface="Times New Roman"/>
            </a:endParaRPr>
          </a:p>
          <a:p>
            <a:pPr algn="just">
              <a:lnSpc>
                <a:spcPts val="5124"/>
              </a:lnSpc>
            </a:pPr>
            <a:endParaRPr lang="en-US" sz="4470" spc="-44">
              <a:solidFill>
                <a:srgbClr val="000000"/>
              </a:solidFill>
              <a:latin typeface="Times New Roman"/>
              <a:ea typeface="Times New Roman"/>
              <a:cs typeface="Times New Roman"/>
              <a:sym typeface="Times New Roman"/>
            </a:endParaRPr>
          </a:p>
        </p:txBody>
      </p:sp>
      <p:sp>
        <p:nvSpPr>
          <p:cNvPr id="3" name="Freeform 3"/>
          <p:cNvSpPr/>
          <p:nvPr/>
        </p:nvSpPr>
        <p:spPr>
          <a:xfrm>
            <a:off x="15647668" y="0"/>
            <a:ext cx="2640332" cy="1359596"/>
          </a:xfrm>
          <a:custGeom>
            <a:avLst/>
            <a:gdLst/>
            <a:ahLst/>
            <a:cxnLst/>
            <a:rect l="l" t="t" r="r" b="b"/>
            <a:pathLst>
              <a:path w="2640332" h="1359596">
                <a:moveTo>
                  <a:pt x="0" y="0"/>
                </a:moveTo>
                <a:lnTo>
                  <a:pt x="2640332" y="0"/>
                </a:lnTo>
                <a:lnTo>
                  <a:pt x="2640332" y="1359596"/>
                </a:lnTo>
                <a:lnTo>
                  <a:pt x="0" y="1359596"/>
                </a:lnTo>
                <a:lnTo>
                  <a:pt x="0" y="0"/>
                </a:lnTo>
                <a:close/>
              </a:path>
            </a:pathLst>
          </a:custGeom>
          <a:blipFill>
            <a:blip r:embed="rId2"/>
            <a:stretch>
              <a:fillRect t="-40376" b="-52948"/>
            </a:stretch>
          </a:blipFill>
        </p:spPr>
      </p:sp>
      <p:sp>
        <p:nvSpPr>
          <p:cNvPr id="4" name="TextBox 4"/>
          <p:cNvSpPr txBox="1"/>
          <p:nvPr/>
        </p:nvSpPr>
        <p:spPr>
          <a:xfrm>
            <a:off x="891903" y="745397"/>
            <a:ext cx="11393599" cy="1187449"/>
          </a:xfrm>
          <a:prstGeom prst="rect">
            <a:avLst/>
          </a:prstGeom>
        </p:spPr>
        <p:txBody>
          <a:bodyPr lIns="0" tIns="0" rIns="0" bIns="0" rtlCol="0" anchor="t">
            <a:spAutoFit/>
          </a:bodyPr>
          <a:lstStyle/>
          <a:p>
            <a:pPr marL="0" lvl="0" indent="0" algn="l">
              <a:lnSpc>
                <a:spcPts val="8499"/>
              </a:lnSpc>
              <a:spcBef>
                <a:spcPct val="0"/>
              </a:spcBef>
            </a:pPr>
            <a:r>
              <a:rPr lang="en-US" sz="9999" u="none" strike="noStrike" spc="-489">
                <a:solidFill>
                  <a:srgbClr val="70020F"/>
                </a:solidFill>
                <a:latin typeface="Anton"/>
                <a:ea typeface="Anton"/>
                <a:cs typeface="Anton"/>
                <a:sym typeface="Anton"/>
              </a:rPr>
              <a:t>INTRODUCTION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EDEE1"/>
        </a:solidFill>
        <a:effectLst/>
      </p:bgPr>
    </p:bg>
    <p:spTree>
      <p:nvGrpSpPr>
        <p:cNvPr id="1" name=""/>
        <p:cNvGrpSpPr/>
        <p:nvPr/>
      </p:nvGrpSpPr>
      <p:grpSpPr>
        <a:xfrm>
          <a:off x="0" y="0"/>
          <a:ext cx="0" cy="0"/>
          <a:chOff x="0" y="0"/>
          <a:chExt cx="0" cy="0"/>
        </a:xfrm>
      </p:grpSpPr>
      <p:sp>
        <p:nvSpPr>
          <p:cNvPr id="2" name="TextBox 2"/>
          <p:cNvSpPr txBox="1"/>
          <p:nvPr/>
        </p:nvSpPr>
        <p:spPr>
          <a:xfrm>
            <a:off x="276094" y="1737665"/>
            <a:ext cx="17735813" cy="5611151"/>
          </a:xfrm>
          <a:prstGeom prst="rect">
            <a:avLst/>
          </a:prstGeom>
        </p:spPr>
        <p:txBody>
          <a:bodyPr lIns="0" tIns="0" rIns="0" bIns="0" rtlCol="0" anchor="t">
            <a:spAutoFit/>
          </a:bodyPr>
          <a:lstStyle/>
          <a:p>
            <a:pPr marL="787798" lvl="1" indent="-393899" algn="just">
              <a:lnSpc>
                <a:spcPts val="4378"/>
              </a:lnSpc>
              <a:buFont typeface="Arial"/>
              <a:buChar char="•"/>
            </a:pPr>
            <a:r>
              <a:rPr lang="en-US" sz="3648" spc="-36" dirty="0">
                <a:solidFill>
                  <a:srgbClr val="000000"/>
                </a:solidFill>
                <a:latin typeface="Times New Roman"/>
                <a:ea typeface="Times New Roman"/>
                <a:cs typeface="Times New Roman"/>
                <a:sym typeface="Times New Roman"/>
              </a:rPr>
              <a:t>Recruitment can be time-consuming because recruiters have to manually check many resumes.</a:t>
            </a:r>
          </a:p>
          <a:p>
            <a:pPr marL="787798" lvl="1" indent="-393899" algn="just">
              <a:lnSpc>
                <a:spcPts val="4378"/>
              </a:lnSpc>
              <a:buFont typeface="Arial"/>
              <a:buChar char="•"/>
            </a:pPr>
            <a:r>
              <a:rPr lang="en-US" sz="3648" spc="-36" dirty="0">
                <a:solidFill>
                  <a:srgbClr val="000000"/>
                </a:solidFill>
                <a:latin typeface="Times New Roman"/>
                <a:ea typeface="Times New Roman"/>
                <a:cs typeface="Times New Roman"/>
                <a:sym typeface="Times New Roman"/>
              </a:rPr>
              <a:t>The project Job Portal with Resume Parsing &amp; Matching makes the recruitment process faster and easier.</a:t>
            </a:r>
          </a:p>
          <a:p>
            <a:pPr marL="787798" lvl="1" indent="-393899" algn="just">
              <a:lnSpc>
                <a:spcPts val="4378"/>
              </a:lnSpc>
              <a:buFont typeface="Arial"/>
              <a:buChar char="•"/>
            </a:pPr>
            <a:r>
              <a:rPr lang="en-US" sz="3648" spc="-36" dirty="0">
                <a:solidFill>
                  <a:srgbClr val="000000"/>
                </a:solidFill>
                <a:latin typeface="Times New Roman"/>
                <a:ea typeface="Times New Roman"/>
                <a:cs typeface="Times New Roman"/>
                <a:sym typeface="Times New Roman"/>
              </a:rPr>
              <a:t>Candidates can upload their resumes, and the system automatically extracts skills, education, and experience.</a:t>
            </a:r>
          </a:p>
          <a:p>
            <a:pPr marL="787798" lvl="1" indent="-393899" algn="just">
              <a:lnSpc>
                <a:spcPts val="4378"/>
              </a:lnSpc>
              <a:buFont typeface="Arial"/>
              <a:buChar char="•"/>
            </a:pPr>
            <a:r>
              <a:rPr lang="en-US" sz="3648" spc="-36" dirty="0">
                <a:solidFill>
                  <a:srgbClr val="000000"/>
                </a:solidFill>
                <a:latin typeface="Times New Roman"/>
                <a:ea typeface="Times New Roman"/>
                <a:cs typeface="Times New Roman"/>
                <a:sym typeface="Times New Roman"/>
              </a:rPr>
              <a:t>The system compares the candidate's skills with the job requirements.</a:t>
            </a:r>
          </a:p>
          <a:p>
            <a:pPr marL="787798" lvl="1" indent="-393899" algn="just">
              <a:lnSpc>
                <a:spcPts val="4378"/>
              </a:lnSpc>
              <a:buFont typeface="Arial"/>
              <a:buChar char="•"/>
            </a:pPr>
            <a:r>
              <a:rPr lang="en-US" sz="3648" spc="-36" dirty="0">
                <a:solidFill>
                  <a:srgbClr val="000000"/>
                </a:solidFill>
                <a:latin typeface="Times New Roman"/>
                <a:ea typeface="Times New Roman"/>
                <a:cs typeface="Times New Roman"/>
                <a:sym typeface="Times New Roman"/>
              </a:rPr>
              <a:t>It provides a matching score to help recruiters find suitable </a:t>
            </a:r>
            <a:r>
              <a:rPr lang="en-US" sz="3648" spc="-36">
                <a:solidFill>
                  <a:srgbClr val="000000"/>
                </a:solidFill>
                <a:latin typeface="Times New Roman"/>
                <a:ea typeface="Times New Roman"/>
                <a:cs typeface="Times New Roman"/>
                <a:sym typeface="Times New Roman"/>
              </a:rPr>
              <a:t>candidates.</a:t>
            </a:r>
            <a:endParaRPr lang="en-US" sz="3648" spc="-36" dirty="0">
              <a:solidFill>
                <a:srgbClr val="000000"/>
              </a:solidFill>
              <a:latin typeface="Times New Roman"/>
              <a:ea typeface="Times New Roman"/>
              <a:cs typeface="Times New Roman"/>
              <a:sym typeface="Times New Roman"/>
            </a:endParaRPr>
          </a:p>
          <a:p>
            <a:pPr marL="787798" lvl="1" indent="-393899" algn="just">
              <a:lnSpc>
                <a:spcPts val="4378"/>
              </a:lnSpc>
              <a:buFont typeface="Arial"/>
              <a:buChar char="•"/>
            </a:pPr>
            <a:r>
              <a:rPr lang="en-US" sz="3648" spc="-36" dirty="0">
                <a:solidFill>
                  <a:srgbClr val="000000"/>
                </a:solidFill>
                <a:latin typeface="Times New Roman"/>
                <a:ea typeface="Times New Roman"/>
                <a:cs typeface="Times New Roman"/>
                <a:sym typeface="Times New Roman"/>
              </a:rPr>
              <a:t>MongoDB stores activity and log information.</a:t>
            </a:r>
          </a:p>
          <a:p>
            <a:pPr algn="just">
              <a:lnSpc>
                <a:spcPts val="4378"/>
              </a:lnSpc>
            </a:pPr>
            <a:r>
              <a:rPr lang="en-US" sz="3648" spc="-36" dirty="0">
                <a:solidFill>
                  <a:srgbClr val="000000"/>
                </a:solidFill>
                <a:latin typeface="Times New Roman"/>
                <a:ea typeface="Times New Roman"/>
                <a:cs typeface="Times New Roman"/>
                <a:sym typeface="Times New Roman"/>
              </a:rPr>
              <a:t>Overall, the project provides a faster, smarter, and more efficient way to find suitable candidates.</a:t>
            </a:r>
          </a:p>
        </p:txBody>
      </p:sp>
      <p:sp>
        <p:nvSpPr>
          <p:cNvPr id="3" name="Freeform 3"/>
          <p:cNvSpPr/>
          <p:nvPr/>
        </p:nvSpPr>
        <p:spPr>
          <a:xfrm>
            <a:off x="16319093" y="0"/>
            <a:ext cx="1968907" cy="1269238"/>
          </a:xfrm>
          <a:custGeom>
            <a:avLst/>
            <a:gdLst/>
            <a:ahLst/>
            <a:cxnLst/>
            <a:rect l="l" t="t" r="r" b="b"/>
            <a:pathLst>
              <a:path w="1968907" h="1269238">
                <a:moveTo>
                  <a:pt x="0" y="0"/>
                </a:moveTo>
                <a:lnTo>
                  <a:pt x="1968907" y="0"/>
                </a:lnTo>
                <a:lnTo>
                  <a:pt x="1968907" y="1269238"/>
                </a:lnTo>
                <a:lnTo>
                  <a:pt x="0" y="1269238"/>
                </a:lnTo>
                <a:lnTo>
                  <a:pt x="0" y="0"/>
                </a:lnTo>
                <a:close/>
              </a:path>
            </a:pathLst>
          </a:custGeom>
          <a:blipFill>
            <a:blip r:embed="rId2"/>
            <a:stretch>
              <a:fillRect t="-19821" b="-34604"/>
            </a:stretch>
          </a:blipFill>
        </p:spPr>
      </p:sp>
      <p:sp>
        <p:nvSpPr>
          <p:cNvPr id="4" name="TextBox 4"/>
          <p:cNvSpPr txBox="1"/>
          <p:nvPr/>
        </p:nvSpPr>
        <p:spPr>
          <a:xfrm>
            <a:off x="724180" y="333375"/>
            <a:ext cx="9782991" cy="1187449"/>
          </a:xfrm>
          <a:prstGeom prst="rect">
            <a:avLst/>
          </a:prstGeom>
        </p:spPr>
        <p:txBody>
          <a:bodyPr lIns="0" tIns="0" rIns="0" bIns="0" rtlCol="0" anchor="t">
            <a:spAutoFit/>
          </a:bodyPr>
          <a:lstStyle/>
          <a:p>
            <a:pPr algn="l">
              <a:lnSpc>
                <a:spcPts val="8499"/>
              </a:lnSpc>
            </a:pPr>
            <a:r>
              <a:rPr lang="en-US" sz="9999" spc="-489">
                <a:solidFill>
                  <a:srgbClr val="70020F"/>
                </a:solidFill>
                <a:latin typeface="Anton"/>
                <a:ea typeface="Anton"/>
                <a:cs typeface="Anton"/>
                <a:sym typeface="Anton"/>
              </a:rPr>
              <a:t>ABSTRACT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EDEE1"/>
        </a:solidFill>
        <a:effectLst/>
      </p:bgPr>
    </p:bg>
    <p:spTree>
      <p:nvGrpSpPr>
        <p:cNvPr id="1" name=""/>
        <p:cNvGrpSpPr/>
        <p:nvPr/>
      </p:nvGrpSpPr>
      <p:grpSpPr>
        <a:xfrm>
          <a:off x="0" y="0"/>
          <a:ext cx="0" cy="0"/>
          <a:chOff x="0" y="0"/>
          <a:chExt cx="0" cy="0"/>
        </a:xfrm>
      </p:grpSpPr>
      <p:sp>
        <p:nvSpPr>
          <p:cNvPr id="2" name="TextBox 2"/>
          <p:cNvSpPr txBox="1"/>
          <p:nvPr/>
        </p:nvSpPr>
        <p:spPr>
          <a:xfrm>
            <a:off x="514350" y="2693323"/>
            <a:ext cx="17259300" cy="6829347"/>
          </a:xfrm>
          <a:prstGeom prst="rect">
            <a:avLst/>
          </a:prstGeom>
        </p:spPr>
        <p:txBody>
          <a:bodyPr lIns="0" tIns="0" rIns="0" bIns="0" rtlCol="0" anchor="t">
            <a:spAutoFit/>
          </a:bodyPr>
          <a:lstStyle/>
          <a:p>
            <a:pPr algn="just">
              <a:lnSpc>
                <a:spcPts val="5385"/>
              </a:lnSpc>
              <a:spcBef>
                <a:spcPct val="0"/>
              </a:spcBef>
            </a:pPr>
            <a:r>
              <a:rPr lang="en-US" sz="3846" u="none" strike="noStrike" dirty="0">
                <a:solidFill>
                  <a:srgbClr val="000000"/>
                </a:solidFill>
                <a:latin typeface="Times New Roman"/>
                <a:ea typeface="Times New Roman"/>
                <a:cs typeface="Times New Roman"/>
                <a:sym typeface="Times New Roman"/>
              </a:rPr>
              <a:t>Recruiters face significant challenges in hiring: they must manually screen large volumes of resumes, which consumes time and effort, often makes it difficult to identify the right candidates, and can lead to inaccurate skill matching. As applications increase, managing the entire hiring process becomes even more complex.</a:t>
            </a:r>
          </a:p>
          <a:p>
            <a:pPr algn="just">
              <a:lnSpc>
                <a:spcPts val="5385"/>
              </a:lnSpc>
              <a:spcBef>
                <a:spcPct val="0"/>
              </a:spcBef>
            </a:pPr>
            <a:r>
              <a:rPr lang="en-US" sz="3846" u="none" strike="noStrike" dirty="0">
                <a:solidFill>
                  <a:srgbClr val="000000"/>
                </a:solidFill>
                <a:latin typeface="Times New Roman"/>
                <a:ea typeface="Times New Roman"/>
                <a:cs typeface="Times New Roman"/>
                <a:sym typeface="Times New Roman"/>
              </a:rPr>
              <a:t>Objectives</a:t>
            </a:r>
          </a:p>
          <a:p>
            <a:pPr marL="830525" lvl="1" indent="-415263" algn="just">
              <a:lnSpc>
                <a:spcPts val="5385"/>
              </a:lnSpc>
              <a:spcBef>
                <a:spcPct val="0"/>
              </a:spcBef>
              <a:buAutoNum type="arabicPeriod"/>
            </a:pPr>
            <a:r>
              <a:rPr lang="en-US" sz="3846" u="none" strike="noStrike" dirty="0">
                <a:solidFill>
                  <a:srgbClr val="000000"/>
                </a:solidFill>
                <a:latin typeface="Times New Roman"/>
                <a:ea typeface="Times New Roman"/>
                <a:cs typeface="Times New Roman"/>
                <a:sym typeface="Times New Roman"/>
              </a:rPr>
              <a:t>Automate resume parsing to extract candidate details and skills</a:t>
            </a:r>
          </a:p>
          <a:p>
            <a:pPr marL="830525" lvl="1" indent="-415263" algn="just">
              <a:lnSpc>
                <a:spcPts val="5385"/>
              </a:lnSpc>
              <a:spcBef>
                <a:spcPct val="0"/>
              </a:spcBef>
              <a:buAutoNum type="arabicPeriod"/>
            </a:pPr>
            <a:r>
              <a:rPr lang="en-US" sz="3846" u="none" strike="noStrike" dirty="0">
                <a:solidFill>
                  <a:srgbClr val="000000"/>
                </a:solidFill>
                <a:latin typeface="Times New Roman"/>
                <a:ea typeface="Times New Roman"/>
                <a:cs typeface="Times New Roman"/>
                <a:sym typeface="Times New Roman"/>
              </a:rPr>
              <a:t>Enable accurate skill‑to‑job requirement comparison</a:t>
            </a:r>
          </a:p>
          <a:p>
            <a:pPr marL="830525" lvl="1" indent="-415263" algn="just">
              <a:lnSpc>
                <a:spcPts val="5385"/>
              </a:lnSpc>
              <a:spcBef>
                <a:spcPct val="0"/>
              </a:spcBef>
              <a:buAutoNum type="arabicPeriod"/>
            </a:pPr>
            <a:r>
              <a:rPr lang="en-US" sz="3846" u="none" strike="noStrike" dirty="0">
                <a:solidFill>
                  <a:srgbClr val="000000"/>
                </a:solidFill>
                <a:latin typeface="Times New Roman"/>
                <a:ea typeface="Times New Roman"/>
                <a:cs typeface="Times New Roman"/>
                <a:sym typeface="Times New Roman"/>
              </a:rPr>
              <a:t>Provide a candidate suitability/matching score for quick shortlisting</a:t>
            </a:r>
          </a:p>
          <a:p>
            <a:pPr marL="830525" lvl="1" indent="-415263" algn="just">
              <a:lnSpc>
                <a:spcPts val="5385"/>
              </a:lnSpc>
              <a:spcBef>
                <a:spcPct val="0"/>
              </a:spcBef>
              <a:buAutoNum type="arabicPeriod"/>
            </a:pPr>
            <a:r>
              <a:rPr lang="en-US" sz="3846" u="none" strike="noStrike" dirty="0">
                <a:solidFill>
                  <a:srgbClr val="000000"/>
                </a:solidFill>
                <a:latin typeface="Times New Roman"/>
                <a:ea typeface="Times New Roman"/>
                <a:cs typeface="Times New Roman"/>
                <a:sym typeface="Times New Roman"/>
              </a:rPr>
              <a:t>Simplify and accelerate the overall recruitment process</a:t>
            </a:r>
          </a:p>
          <a:p>
            <a:pPr algn="just">
              <a:lnSpc>
                <a:spcPts val="5385"/>
              </a:lnSpc>
              <a:spcBef>
                <a:spcPct val="0"/>
              </a:spcBef>
            </a:pPr>
            <a:endParaRPr lang="en-US" sz="3846" u="none" strike="noStrike" dirty="0">
              <a:solidFill>
                <a:srgbClr val="000000"/>
              </a:solidFill>
              <a:latin typeface="Times New Roman"/>
              <a:ea typeface="Times New Roman"/>
              <a:cs typeface="Times New Roman"/>
              <a:sym typeface="Times New Roman"/>
            </a:endParaRPr>
          </a:p>
        </p:txBody>
      </p:sp>
      <p:sp>
        <p:nvSpPr>
          <p:cNvPr id="3" name="Freeform 3"/>
          <p:cNvSpPr/>
          <p:nvPr/>
        </p:nvSpPr>
        <p:spPr>
          <a:xfrm>
            <a:off x="15001949" y="0"/>
            <a:ext cx="3286051" cy="1929459"/>
          </a:xfrm>
          <a:custGeom>
            <a:avLst/>
            <a:gdLst/>
            <a:ahLst/>
            <a:cxnLst/>
            <a:rect l="l" t="t" r="r" b="b"/>
            <a:pathLst>
              <a:path w="3286051" h="1929459">
                <a:moveTo>
                  <a:pt x="0" y="0"/>
                </a:moveTo>
                <a:lnTo>
                  <a:pt x="3286051" y="0"/>
                </a:lnTo>
                <a:lnTo>
                  <a:pt x="3286051" y="1929459"/>
                </a:lnTo>
                <a:lnTo>
                  <a:pt x="0" y="1929459"/>
                </a:lnTo>
                <a:lnTo>
                  <a:pt x="0" y="0"/>
                </a:lnTo>
                <a:close/>
              </a:path>
            </a:pathLst>
          </a:custGeom>
          <a:blipFill>
            <a:blip r:embed="rId2"/>
            <a:stretch>
              <a:fillRect t="-36219" b="-33322"/>
            </a:stretch>
          </a:blipFill>
        </p:spPr>
      </p:sp>
      <p:sp>
        <p:nvSpPr>
          <p:cNvPr id="4" name="TextBox 4"/>
          <p:cNvSpPr txBox="1"/>
          <p:nvPr/>
        </p:nvSpPr>
        <p:spPr>
          <a:xfrm>
            <a:off x="332824" y="745397"/>
            <a:ext cx="16926476" cy="1187449"/>
          </a:xfrm>
          <a:prstGeom prst="rect">
            <a:avLst/>
          </a:prstGeom>
        </p:spPr>
        <p:txBody>
          <a:bodyPr lIns="0" tIns="0" rIns="0" bIns="0" rtlCol="0" anchor="t">
            <a:spAutoFit/>
          </a:bodyPr>
          <a:lstStyle/>
          <a:p>
            <a:pPr marL="0" lvl="0" indent="0" algn="l">
              <a:lnSpc>
                <a:spcPts val="8499"/>
              </a:lnSpc>
              <a:spcBef>
                <a:spcPct val="0"/>
              </a:spcBef>
            </a:pPr>
            <a:r>
              <a:rPr lang="en-US" sz="9999" u="none" strike="noStrike" spc="-489">
                <a:solidFill>
                  <a:srgbClr val="70020F"/>
                </a:solidFill>
                <a:latin typeface="Anton"/>
                <a:ea typeface="Anton"/>
                <a:cs typeface="Anton"/>
                <a:sym typeface="Anton"/>
              </a:rPr>
              <a:t>PROBLEM  STATEMENT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EDEE1"/>
        </a:solidFill>
        <a:effectLst/>
      </p:bgPr>
    </p:bg>
    <p:spTree>
      <p:nvGrpSpPr>
        <p:cNvPr id="1" name=""/>
        <p:cNvGrpSpPr/>
        <p:nvPr/>
      </p:nvGrpSpPr>
      <p:grpSpPr>
        <a:xfrm>
          <a:off x="0" y="0"/>
          <a:ext cx="0" cy="0"/>
          <a:chOff x="0" y="0"/>
          <a:chExt cx="0" cy="0"/>
        </a:xfrm>
      </p:grpSpPr>
      <p:sp>
        <p:nvSpPr>
          <p:cNvPr id="2" name="TextBox 2"/>
          <p:cNvSpPr txBox="1"/>
          <p:nvPr/>
        </p:nvSpPr>
        <p:spPr>
          <a:xfrm>
            <a:off x="340381" y="2070334"/>
            <a:ext cx="15984248" cy="5792442"/>
          </a:xfrm>
          <a:prstGeom prst="rect">
            <a:avLst/>
          </a:prstGeom>
        </p:spPr>
        <p:txBody>
          <a:bodyPr lIns="0" tIns="0" rIns="0" bIns="0" rtlCol="0" anchor="t">
            <a:spAutoFit/>
          </a:bodyPr>
          <a:lstStyle/>
          <a:p>
            <a:pPr marL="880027" lvl="1" indent="-440013" algn="just">
              <a:lnSpc>
                <a:spcPts val="5706"/>
              </a:lnSpc>
              <a:buAutoNum type="arabicPeriod"/>
            </a:pPr>
            <a:r>
              <a:rPr lang="en-US" sz="4076" dirty="0">
                <a:solidFill>
                  <a:srgbClr val="000000"/>
                </a:solidFill>
                <a:latin typeface="Times New Roman"/>
                <a:ea typeface="Times New Roman"/>
                <a:cs typeface="Times New Roman"/>
                <a:sym typeface="Times New Roman"/>
              </a:rPr>
              <a:t>Candidate uploads resume</a:t>
            </a:r>
          </a:p>
          <a:p>
            <a:pPr marL="880027" lvl="1" indent="-440013" algn="just">
              <a:lnSpc>
                <a:spcPts val="5706"/>
              </a:lnSpc>
              <a:buAutoNum type="arabicPeriod"/>
            </a:pPr>
            <a:r>
              <a:rPr lang="en-US" sz="4076" dirty="0">
                <a:solidFill>
                  <a:srgbClr val="000000"/>
                </a:solidFill>
                <a:latin typeface="Times New Roman"/>
                <a:ea typeface="Times New Roman"/>
                <a:cs typeface="Times New Roman"/>
                <a:sym typeface="Times New Roman"/>
              </a:rPr>
              <a:t>Resume parsing extracts text &amp; data</a:t>
            </a:r>
          </a:p>
          <a:p>
            <a:pPr marL="880027" lvl="1" indent="-440013" algn="just">
              <a:lnSpc>
                <a:spcPts val="5706"/>
              </a:lnSpc>
              <a:buAutoNum type="arabicPeriod"/>
            </a:pPr>
            <a:r>
              <a:rPr lang="en-US" sz="4076" dirty="0">
                <a:solidFill>
                  <a:srgbClr val="000000"/>
                </a:solidFill>
                <a:latin typeface="Times New Roman"/>
                <a:ea typeface="Times New Roman"/>
                <a:cs typeface="Times New Roman"/>
                <a:sym typeface="Times New Roman"/>
              </a:rPr>
              <a:t>Skills and qualifications identified using NLP</a:t>
            </a:r>
          </a:p>
          <a:p>
            <a:pPr marL="880027" lvl="1" indent="-440013" algn="just">
              <a:lnSpc>
                <a:spcPts val="5706"/>
              </a:lnSpc>
              <a:buAutoNum type="arabicPeriod"/>
            </a:pPr>
            <a:r>
              <a:rPr lang="en-US" sz="4076" dirty="0">
                <a:solidFill>
                  <a:srgbClr val="000000"/>
                </a:solidFill>
                <a:latin typeface="Times New Roman"/>
                <a:ea typeface="Times New Roman"/>
                <a:cs typeface="Times New Roman"/>
                <a:sym typeface="Times New Roman"/>
              </a:rPr>
              <a:t>Job requirements compared with candidate profile</a:t>
            </a:r>
          </a:p>
          <a:p>
            <a:pPr marL="880027" lvl="1" indent="-440013" algn="just">
              <a:lnSpc>
                <a:spcPts val="5706"/>
              </a:lnSpc>
              <a:buAutoNum type="arabicPeriod"/>
            </a:pPr>
            <a:r>
              <a:rPr lang="en-US" sz="4076" dirty="0">
                <a:solidFill>
                  <a:srgbClr val="000000"/>
                </a:solidFill>
                <a:latin typeface="Times New Roman"/>
                <a:ea typeface="Times New Roman"/>
                <a:cs typeface="Times New Roman"/>
                <a:sym typeface="Times New Roman"/>
              </a:rPr>
              <a:t>Matching score generated for suitability</a:t>
            </a:r>
          </a:p>
          <a:p>
            <a:pPr marL="880027" lvl="1" indent="-440013" algn="just">
              <a:lnSpc>
                <a:spcPts val="5706"/>
              </a:lnSpc>
              <a:buAutoNum type="arabicPeriod"/>
            </a:pPr>
            <a:r>
              <a:rPr lang="en-US" sz="4076" dirty="0">
                <a:solidFill>
                  <a:srgbClr val="000000"/>
                </a:solidFill>
                <a:latin typeface="Times New Roman"/>
                <a:ea typeface="Times New Roman"/>
                <a:cs typeface="Times New Roman"/>
                <a:sym typeface="Times New Roman"/>
              </a:rPr>
              <a:t>Recruiter shortlists candidates based on score</a:t>
            </a:r>
          </a:p>
          <a:p>
            <a:pPr algn="just">
              <a:lnSpc>
                <a:spcPts val="5706"/>
              </a:lnSpc>
            </a:pPr>
            <a:endParaRPr lang="en-US" sz="4076" dirty="0">
              <a:solidFill>
                <a:srgbClr val="000000"/>
              </a:solidFill>
              <a:latin typeface="Times New Roman"/>
              <a:ea typeface="Times New Roman"/>
              <a:cs typeface="Times New Roman"/>
              <a:sym typeface="Times New Roman"/>
            </a:endParaRPr>
          </a:p>
          <a:p>
            <a:pPr algn="ctr">
              <a:lnSpc>
                <a:spcPts val="5706"/>
              </a:lnSpc>
            </a:pPr>
            <a:endParaRPr lang="en-US" sz="4076" dirty="0">
              <a:solidFill>
                <a:srgbClr val="000000"/>
              </a:solidFill>
              <a:latin typeface="Times New Roman"/>
              <a:ea typeface="Times New Roman"/>
              <a:cs typeface="Times New Roman"/>
              <a:sym typeface="Times New Roman"/>
            </a:endParaRPr>
          </a:p>
        </p:txBody>
      </p:sp>
      <p:sp>
        <p:nvSpPr>
          <p:cNvPr id="3" name="Freeform 3"/>
          <p:cNvSpPr/>
          <p:nvPr/>
        </p:nvSpPr>
        <p:spPr>
          <a:xfrm>
            <a:off x="15001949" y="0"/>
            <a:ext cx="3286051" cy="1929459"/>
          </a:xfrm>
          <a:custGeom>
            <a:avLst/>
            <a:gdLst/>
            <a:ahLst/>
            <a:cxnLst/>
            <a:rect l="l" t="t" r="r" b="b"/>
            <a:pathLst>
              <a:path w="3286051" h="1929459">
                <a:moveTo>
                  <a:pt x="0" y="0"/>
                </a:moveTo>
                <a:lnTo>
                  <a:pt x="3286051" y="0"/>
                </a:lnTo>
                <a:lnTo>
                  <a:pt x="3286051" y="1929459"/>
                </a:lnTo>
                <a:lnTo>
                  <a:pt x="0" y="1929459"/>
                </a:lnTo>
                <a:lnTo>
                  <a:pt x="0" y="0"/>
                </a:lnTo>
                <a:close/>
              </a:path>
            </a:pathLst>
          </a:custGeom>
          <a:blipFill>
            <a:blip r:embed="rId2"/>
            <a:stretch>
              <a:fillRect t="-36219" b="-33322"/>
            </a:stretch>
          </a:blipFill>
        </p:spPr>
      </p:sp>
      <p:sp>
        <p:nvSpPr>
          <p:cNvPr id="4" name="TextBox 4"/>
          <p:cNvSpPr txBox="1"/>
          <p:nvPr/>
        </p:nvSpPr>
        <p:spPr>
          <a:xfrm>
            <a:off x="332824" y="745397"/>
            <a:ext cx="16926476" cy="1187449"/>
          </a:xfrm>
          <a:prstGeom prst="rect">
            <a:avLst/>
          </a:prstGeom>
        </p:spPr>
        <p:txBody>
          <a:bodyPr lIns="0" tIns="0" rIns="0" bIns="0" rtlCol="0" anchor="t">
            <a:spAutoFit/>
          </a:bodyPr>
          <a:lstStyle/>
          <a:p>
            <a:pPr marL="0" lvl="0" indent="0" algn="l">
              <a:lnSpc>
                <a:spcPts val="8499"/>
              </a:lnSpc>
              <a:spcBef>
                <a:spcPct val="0"/>
              </a:spcBef>
            </a:pPr>
            <a:r>
              <a:rPr lang="en-US" sz="9999" u="none" strike="noStrike" spc="-489">
                <a:solidFill>
                  <a:srgbClr val="70020F"/>
                </a:solidFill>
                <a:latin typeface="Anton"/>
                <a:ea typeface="Anton"/>
                <a:cs typeface="Anton"/>
                <a:sym typeface="Anton"/>
              </a:rPr>
              <a:t>PROPOSED SOLUTION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EDEE1"/>
        </a:solidFill>
        <a:effectLst/>
      </p:bgPr>
    </p:bg>
    <p:spTree>
      <p:nvGrpSpPr>
        <p:cNvPr id="1" name=""/>
        <p:cNvGrpSpPr/>
        <p:nvPr/>
      </p:nvGrpSpPr>
      <p:grpSpPr>
        <a:xfrm>
          <a:off x="0" y="0"/>
          <a:ext cx="0" cy="0"/>
          <a:chOff x="0" y="0"/>
          <a:chExt cx="0" cy="0"/>
        </a:xfrm>
      </p:grpSpPr>
      <p:sp>
        <p:nvSpPr>
          <p:cNvPr id="2" name="Freeform 2"/>
          <p:cNvSpPr/>
          <p:nvPr/>
        </p:nvSpPr>
        <p:spPr>
          <a:xfrm>
            <a:off x="15001949" y="0"/>
            <a:ext cx="3286051" cy="1929459"/>
          </a:xfrm>
          <a:custGeom>
            <a:avLst/>
            <a:gdLst/>
            <a:ahLst/>
            <a:cxnLst/>
            <a:rect l="l" t="t" r="r" b="b"/>
            <a:pathLst>
              <a:path w="3286051" h="1929459">
                <a:moveTo>
                  <a:pt x="0" y="0"/>
                </a:moveTo>
                <a:lnTo>
                  <a:pt x="3286051" y="0"/>
                </a:lnTo>
                <a:lnTo>
                  <a:pt x="3286051" y="1929459"/>
                </a:lnTo>
                <a:lnTo>
                  <a:pt x="0" y="1929459"/>
                </a:lnTo>
                <a:lnTo>
                  <a:pt x="0" y="0"/>
                </a:lnTo>
                <a:close/>
              </a:path>
            </a:pathLst>
          </a:custGeom>
          <a:blipFill>
            <a:blip r:embed="rId2"/>
            <a:stretch>
              <a:fillRect t="-36219" b="-33322"/>
            </a:stretch>
          </a:blipFill>
        </p:spPr>
      </p:sp>
      <p:sp>
        <p:nvSpPr>
          <p:cNvPr id="3" name="TextBox 3"/>
          <p:cNvSpPr txBox="1"/>
          <p:nvPr/>
        </p:nvSpPr>
        <p:spPr>
          <a:xfrm>
            <a:off x="332824" y="745397"/>
            <a:ext cx="16926476" cy="1187449"/>
          </a:xfrm>
          <a:prstGeom prst="rect">
            <a:avLst/>
          </a:prstGeom>
        </p:spPr>
        <p:txBody>
          <a:bodyPr lIns="0" tIns="0" rIns="0" bIns="0" rtlCol="0" anchor="t">
            <a:spAutoFit/>
          </a:bodyPr>
          <a:lstStyle/>
          <a:p>
            <a:pPr marL="0" lvl="0" indent="0" algn="l">
              <a:lnSpc>
                <a:spcPts val="8499"/>
              </a:lnSpc>
              <a:spcBef>
                <a:spcPct val="0"/>
              </a:spcBef>
            </a:pPr>
            <a:r>
              <a:rPr lang="en-US" sz="9999" spc="-489">
                <a:solidFill>
                  <a:srgbClr val="70020F"/>
                </a:solidFill>
                <a:latin typeface="Anton"/>
                <a:ea typeface="Anton"/>
                <a:cs typeface="Anton"/>
                <a:sym typeface="Anton"/>
              </a:rPr>
              <a:t>METHODOLOGY</a:t>
            </a:r>
          </a:p>
        </p:txBody>
      </p:sp>
      <p:sp>
        <p:nvSpPr>
          <p:cNvPr id="4" name="TextBox 4"/>
          <p:cNvSpPr txBox="1"/>
          <p:nvPr/>
        </p:nvSpPr>
        <p:spPr>
          <a:xfrm>
            <a:off x="758705" y="2962423"/>
            <a:ext cx="10326243" cy="350281"/>
          </a:xfrm>
          <a:prstGeom prst="rect">
            <a:avLst/>
          </a:prstGeom>
        </p:spPr>
        <p:txBody>
          <a:bodyPr lIns="0" tIns="0" rIns="0" bIns="0" rtlCol="0" anchor="t">
            <a:spAutoFit/>
          </a:bodyPr>
          <a:lstStyle/>
          <a:p>
            <a:pPr algn="ctr">
              <a:lnSpc>
                <a:spcPts val="2743"/>
              </a:lnSpc>
              <a:spcBef>
                <a:spcPct val="0"/>
              </a:spcBef>
            </a:pPr>
            <a:r>
              <a:rPr lang="en-US" sz="1959" spc="-96">
                <a:solidFill>
                  <a:srgbClr val="000000"/>
                </a:solidFill>
                <a:latin typeface="Times New Roman"/>
                <a:ea typeface="Times New Roman"/>
                <a:cs typeface="Times New Roman"/>
                <a:sym typeface="Times New Roman"/>
              </a:rPr>
              <a:t>[ CANDIDATES &amp; RECRUITERS ]</a:t>
            </a:r>
          </a:p>
        </p:txBody>
      </p:sp>
      <p:sp>
        <p:nvSpPr>
          <p:cNvPr id="5" name="TextBox 5"/>
          <p:cNvSpPr txBox="1"/>
          <p:nvPr/>
        </p:nvSpPr>
        <p:spPr>
          <a:xfrm>
            <a:off x="5840021" y="3255555"/>
            <a:ext cx="163610" cy="349289"/>
          </a:xfrm>
          <a:prstGeom prst="rect">
            <a:avLst/>
          </a:prstGeom>
        </p:spPr>
        <p:txBody>
          <a:bodyPr lIns="0" tIns="0" rIns="0" bIns="0" rtlCol="0" anchor="t">
            <a:spAutoFit/>
          </a:bodyPr>
          <a:lstStyle/>
          <a:p>
            <a:pPr algn="ctr">
              <a:lnSpc>
                <a:spcPts val="2734"/>
              </a:lnSpc>
              <a:spcBef>
                <a:spcPct val="0"/>
              </a:spcBef>
            </a:pPr>
            <a:r>
              <a:rPr lang="en-US" sz="1953" spc="-95">
                <a:solidFill>
                  <a:srgbClr val="000000"/>
                </a:solidFill>
                <a:latin typeface="Times New Roman"/>
                <a:ea typeface="Times New Roman"/>
                <a:cs typeface="Times New Roman"/>
                <a:sym typeface="Times New Roman"/>
              </a:rPr>
              <a:t>│</a:t>
            </a:r>
          </a:p>
        </p:txBody>
      </p:sp>
      <p:sp>
        <p:nvSpPr>
          <p:cNvPr id="6" name="TextBox 6"/>
          <p:cNvSpPr txBox="1"/>
          <p:nvPr/>
        </p:nvSpPr>
        <p:spPr>
          <a:xfrm>
            <a:off x="5791380" y="3611727"/>
            <a:ext cx="2451274" cy="350266"/>
          </a:xfrm>
          <a:prstGeom prst="rect">
            <a:avLst/>
          </a:prstGeom>
        </p:spPr>
        <p:txBody>
          <a:bodyPr lIns="0" tIns="0" rIns="0" bIns="0" rtlCol="0" anchor="t">
            <a:spAutoFit/>
          </a:bodyPr>
          <a:lstStyle/>
          <a:p>
            <a:pPr algn="ctr">
              <a:lnSpc>
                <a:spcPts val="2743"/>
              </a:lnSpc>
              <a:spcBef>
                <a:spcPct val="0"/>
              </a:spcBef>
            </a:pPr>
            <a:r>
              <a:rPr lang="en-US" sz="1959" spc="-96">
                <a:solidFill>
                  <a:srgbClr val="000000"/>
                </a:solidFill>
                <a:latin typeface="Times New Roman"/>
                <a:ea typeface="Times New Roman"/>
                <a:cs typeface="Times New Roman"/>
                <a:sym typeface="Times New Roman"/>
              </a:rPr>
              <a:t>▼ (HTTPS / UI EVENTS)</a:t>
            </a:r>
          </a:p>
        </p:txBody>
      </p:sp>
      <p:sp>
        <p:nvSpPr>
          <p:cNvPr id="7" name="TextBox 7"/>
          <p:cNvSpPr txBox="1"/>
          <p:nvPr/>
        </p:nvSpPr>
        <p:spPr>
          <a:xfrm>
            <a:off x="5199402" y="3904843"/>
            <a:ext cx="4267646" cy="350266"/>
          </a:xfrm>
          <a:prstGeom prst="rect">
            <a:avLst/>
          </a:prstGeom>
        </p:spPr>
        <p:txBody>
          <a:bodyPr lIns="0" tIns="0" rIns="0" bIns="0" rtlCol="0" anchor="t">
            <a:spAutoFit/>
          </a:bodyPr>
          <a:lstStyle/>
          <a:p>
            <a:pPr algn="ctr">
              <a:lnSpc>
                <a:spcPts val="2743"/>
              </a:lnSpc>
              <a:spcBef>
                <a:spcPct val="0"/>
              </a:spcBef>
            </a:pPr>
            <a:r>
              <a:rPr lang="en-US" sz="1959" spc="-96">
                <a:solidFill>
                  <a:srgbClr val="000000"/>
                </a:solidFill>
                <a:latin typeface="Times New Roman"/>
                <a:ea typeface="Times New Roman"/>
                <a:cs typeface="Times New Roman"/>
                <a:sym typeface="Times New Roman"/>
              </a:rPr>
              <a:t>┌────────────────────────┐</a:t>
            </a:r>
          </a:p>
        </p:txBody>
      </p:sp>
      <p:sp>
        <p:nvSpPr>
          <p:cNvPr id="8" name="TextBox 8"/>
          <p:cNvSpPr txBox="1"/>
          <p:nvPr/>
        </p:nvSpPr>
        <p:spPr>
          <a:xfrm>
            <a:off x="5197058" y="4197959"/>
            <a:ext cx="4272335" cy="350266"/>
          </a:xfrm>
          <a:prstGeom prst="rect">
            <a:avLst/>
          </a:prstGeom>
        </p:spPr>
        <p:txBody>
          <a:bodyPr lIns="0" tIns="0" rIns="0" bIns="0" rtlCol="0" anchor="t">
            <a:spAutoFit/>
          </a:bodyPr>
          <a:lstStyle/>
          <a:p>
            <a:pPr algn="ctr">
              <a:lnSpc>
                <a:spcPts val="2743"/>
              </a:lnSpc>
              <a:spcBef>
                <a:spcPct val="0"/>
              </a:spcBef>
            </a:pPr>
            <a:r>
              <a:rPr lang="en-US" sz="1959" spc="-96">
                <a:solidFill>
                  <a:srgbClr val="000000"/>
                </a:solidFill>
                <a:latin typeface="Times New Roman"/>
                <a:ea typeface="Times New Roman"/>
                <a:cs typeface="Times New Roman"/>
                <a:sym typeface="Times New Roman"/>
              </a:rPr>
              <a:t>│          FRONTEND: REACT.JS (VITE)        │</a:t>
            </a:r>
          </a:p>
        </p:txBody>
      </p:sp>
      <p:sp>
        <p:nvSpPr>
          <p:cNvPr id="9" name="TextBox 9"/>
          <p:cNvSpPr txBox="1"/>
          <p:nvPr/>
        </p:nvSpPr>
        <p:spPr>
          <a:xfrm>
            <a:off x="5199402" y="4491075"/>
            <a:ext cx="4267646" cy="350266"/>
          </a:xfrm>
          <a:prstGeom prst="rect">
            <a:avLst/>
          </a:prstGeom>
        </p:spPr>
        <p:txBody>
          <a:bodyPr lIns="0" tIns="0" rIns="0" bIns="0" rtlCol="0" anchor="t">
            <a:spAutoFit/>
          </a:bodyPr>
          <a:lstStyle/>
          <a:p>
            <a:pPr algn="ctr">
              <a:lnSpc>
                <a:spcPts val="2743"/>
              </a:lnSpc>
              <a:spcBef>
                <a:spcPct val="0"/>
              </a:spcBef>
            </a:pPr>
            <a:r>
              <a:rPr lang="en-US" sz="1959" spc="-96">
                <a:solidFill>
                  <a:srgbClr val="000000"/>
                </a:solidFill>
                <a:latin typeface="Times New Roman"/>
                <a:ea typeface="Times New Roman"/>
                <a:cs typeface="Times New Roman"/>
                <a:sym typeface="Times New Roman"/>
              </a:rPr>
              <a:t>└───────────┬────────────┘</a:t>
            </a:r>
          </a:p>
        </p:txBody>
      </p:sp>
      <p:sp>
        <p:nvSpPr>
          <p:cNvPr id="10" name="TextBox 10"/>
          <p:cNvSpPr txBox="1"/>
          <p:nvPr/>
        </p:nvSpPr>
        <p:spPr>
          <a:xfrm>
            <a:off x="7169615" y="4784191"/>
            <a:ext cx="163610" cy="349289"/>
          </a:xfrm>
          <a:prstGeom prst="rect">
            <a:avLst/>
          </a:prstGeom>
        </p:spPr>
        <p:txBody>
          <a:bodyPr lIns="0" tIns="0" rIns="0" bIns="0" rtlCol="0" anchor="t">
            <a:spAutoFit/>
          </a:bodyPr>
          <a:lstStyle/>
          <a:p>
            <a:pPr algn="ctr">
              <a:lnSpc>
                <a:spcPts val="2734"/>
              </a:lnSpc>
              <a:spcBef>
                <a:spcPct val="0"/>
              </a:spcBef>
            </a:pPr>
            <a:r>
              <a:rPr lang="en-US" sz="1953" spc="-95">
                <a:solidFill>
                  <a:srgbClr val="000000"/>
                </a:solidFill>
                <a:latin typeface="Times New Roman"/>
                <a:ea typeface="Times New Roman"/>
                <a:cs typeface="Times New Roman"/>
                <a:sym typeface="Times New Roman"/>
              </a:rPr>
              <a:t>│</a:t>
            </a:r>
          </a:p>
        </p:txBody>
      </p:sp>
      <p:sp>
        <p:nvSpPr>
          <p:cNvPr id="11" name="TextBox 11"/>
          <p:cNvSpPr txBox="1"/>
          <p:nvPr/>
        </p:nvSpPr>
        <p:spPr>
          <a:xfrm>
            <a:off x="7169615" y="5123854"/>
            <a:ext cx="2105174" cy="350266"/>
          </a:xfrm>
          <a:prstGeom prst="rect">
            <a:avLst/>
          </a:prstGeom>
        </p:spPr>
        <p:txBody>
          <a:bodyPr lIns="0" tIns="0" rIns="0" bIns="0" rtlCol="0" anchor="t">
            <a:spAutoFit/>
          </a:bodyPr>
          <a:lstStyle/>
          <a:p>
            <a:pPr algn="ctr">
              <a:lnSpc>
                <a:spcPts val="2743"/>
              </a:lnSpc>
              <a:spcBef>
                <a:spcPct val="0"/>
              </a:spcBef>
            </a:pPr>
            <a:r>
              <a:rPr lang="en-US" sz="1959" spc="-96">
                <a:solidFill>
                  <a:srgbClr val="000000"/>
                </a:solidFill>
                <a:latin typeface="Times New Roman"/>
                <a:ea typeface="Times New Roman"/>
                <a:cs typeface="Times New Roman"/>
                <a:sym typeface="Times New Roman"/>
              </a:rPr>
              <a:t>▼(REST API / JSON))</a:t>
            </a:r>
          </a:p>
        </p:txBody>
      </p:sp>
      <p:sp>
        <p:nvSpPr>
          <p:cNvPr id="12" name="TextBox 12"/>
          <p:cNvSpPr txBox="1"/>
          <p:nvPr/>
        </p:nvSpPr>
        <p:spPr>
          <a:xfrm>
            <a:off x="5119668" y="5371605"/>
            <a:ext cx="4431804" cy="350266"/>
          </a:xfrm>
          <a:prstGeom prst="rect">
            <a:avLst/>
          </a:prstGeom>
        </p:spPr>
        <p:txBody>
          <a:bodyPr lIns="0" tIns="0" rIns="0" bIns="0" rtlCol="0" anchor="t">
            <a:spAutoFit/>
          </a:bodyPr>
          <a:lstStyle/>
          <a:p>
            <a:pPr algn="ctr">
              <a:lnSpc>
                <a:spcPts val="2743"/>
              </a:lnSpc>
              <a:spcBef>
                <a:spcPct val="0"/>
              </a:spcBef>
            </a:pPr>
            <a:r>
              <a:rPr lang="en-US" sz="1959" spc="-96">
                <a:solidFill>
                  <a:srgbClr val="000000"/>
                </a:solidFill>
                <a:latin typeface="Times New Roman"/>
                <a:ea typeface="Times New Roman"/>
                <a:cs typeface="Times New Roman"/>
                <a:sym typeface="Times New Roman"/>
              </a:rPr>
              <a:t>┌─────────────────────────┐</a:t>
            </a:r>
          </a:p>
        </p:txBody>
      </p:sp>
      <p:sp>
        <p:nvSpPr>
          <p:cNvPr id="13" name="TextBox 13"/>
          <p:cNvSpPr txBox="1"/>
          <p:nvPr/>
        </p:nvSpPr>
        <p:spPr>
          <a:xfrm>
            <a:off x="5131537" y="5664721"/>
            <a:ext cx="4408066" cy="350266"/>
          </a:xfrm>
          <a:prstGeom prst="rect">
            <a:avLst/>
          </a:prstGeom>
        </p:spPr>
        <p:txBody>
          <a:bodyPr lIns="0" tIns="0" rIns="0" bIns="0" rtlCol="0" anchor="t">
            <a:spAutoFit/>
          </a:bodyPr>
          <a:lstStyle/>
          <a:p>
            <a:pPr algn="ctr">
              <a:lnSpc>
                <a:spcPts val="2743"/>
              </a:lnSpc>
              <a:spcBef>
                <a:spcPct val="0"/>
              </a:spcBef>
            </a:pPr>
            <a:r>
              <a:rPr lang="en-US" sz="1959" spc="-96">
                <a:solidFill>
                  <a:srgbClr val="000000"/>
                </a:solidFill>
                <a:latin typeface="Times New Roman"/>
                <a:ea typeface="Times New Roman"/>
                <a:cs typeface="Times New Roman"/>
                <a:sym typeface="Times New Roman"/>
              </a:rPr>
              <a:t>│ MAIN BACKEND: NODE.JS / EXPRESS  │</a:t>
            </a:r>
          </a:p>
        </p:txBody>
      </p:sp>
      <p:sp>
        <p:nvSpPr>
          <p:cNvPr id="14" name="TextBox 14"/>
          <p:cNvSpPr txBox="1"/>
          <p:nvPr/>
        </p:nvSpPr>
        <p:spPr>
          <a:xfrm>
            <a:off x="5119668" y="5957837"/>
            <a:ext cx="4431804" cy="350266"/>
          </a:xfrm>
          <a:prstGeom prst="rect">
            <a:avLst/>
          </a:prstGeom>
        </p:spPr>
        <p:txBody>
          <a:bodyPr lIns="0" tIns="0" rIns="0" bIns="0" rtlCol="0" anchor="t">
            <a:spAutoFit/>
          </a:bodyPr>
          <a:lstStyle/>
          <a:p>
            <a:pPr algn="ctr">
              <a:lnSpc>
                <a:spcPts val="2743"/>
              </a:lnSpc>
              <a:spcBef>
                <a:spcPct val="0"/>
              </a:spcBef>
            </a:pPr>
            <a:r>
              <a:rPr lang="en-US" sz="1959" spc="-96">
                <a:solidFill>
                  <a:srgbClr val="000000"/>
                </a:solidFill>
                <a:latin typeface="Times New Roman"/>
                <a:ea typeface="Times New Roman"/>
                <a:cs typeface="Times New Roman"/>
                <a:sym typeface="Times New Roman"/>
              </a:rPr>
              <a:t>└────────────┬────────────┘</a:t>
            </a:r>
          </a:p>
        </p:txBody>
      </p:sp>
      <p:sp>
        <p:nvSpPr>
          <p:cNvPr id="15" name="TextBox 15"/>
          <p:cNvSpPr txBox="1"/>
          <p:nvPr/>
        </p:nvSpPr>
        <p:spPr>
          <a:xfrm>
            <a:off x="7251420" y="6250953"/>
            <a:ext cx="163610" cy="349289"/>
          </a:xfrm>
          <a:prstGeom prst="rect">
            <a:avLst/>
          </a:prstGeom>
        </p:spPr>
        <p:txBody>
          <a:bodyPr lIns="0" tIns="0" rIns="0" bIns="0" rtlCol="0" anchor="t">
            <a:spAutoFit/>
          </a:bodyPr>
          <a:lstStyle/>
          <a:p>
            <a:pPr algn="ctr">
              <a:lnSpc>
                <a:spcPts val="2734"/>
              </a:lnSpc>
              <a:spcBef>
                <a:spcPct val="0"/>
              </a:spcBef>
            </a:pPr>
            <a:r>
              <a:rPr lang="en-US" sz="1953" spc="-95">
                <a:solidFill>
                  <a:srgbClr val="000000"/>
                </a:solidFill>
                <a:latin typeface="Times New Roman"/>
                <a:ea typeface="Times New Roman"/>
                <a:cs typeface="Times New Roman"/>
                <a:sym typeface="Times New Roman"/>
              </a:rPr>
              <a:t>│</a:t>
            </a:r>
          </a:p>
        </p:txBody>
      </p:sp>
      <p:sp>
        <p:nvSpPr>
          <p:cNvPr id="16" name="TextBox 16"/>
          <p:cNvSpPr txBox="1"/>
          <p:nvPr/>
        </p:nvSpPr>
        <p:spPr>
          <a:xfrm>
            <a:off x="7242636" y="6593853"/>
            <a:ext cx="2984674" cy="350266"/>
          </a:xfrm>
          <a:prstGeom prst="rect">
            <a:avLst/>
          </a:prstGeom>
        </p:spPr>
        <p:txBody>
          <a:bodyPr lIns="0" tIns="0" rIns="0" bIns="0" rtlCol="0" anchor="t">
            <a:spAutoFit/>
          </a:bodyPr>
          <a:lstStyle/>
          <a:p>
            <a:pPr algn="ctr">
              <a:lnSpc>
                <a:spcPts val="2743"/>
              </a:lnSpc>
              <a:spcBef>
                <a:spcPct val="0"/>
              </a:spcBef>
            </a:pPr>
            <a:r>
              <a:rPr lang="en-US" sz="1959" spc="-96">
                <a:solidFill>
                  <a:srgbClr val="000000"/>
                </a:solidFill>
                <a:latin typeface="Times New Roman"/>
                <a:ea typeface="Times New Roman"/>
                <a:cs typeface="Times New Roman"/>
                <a:sym typeface="Times New Roman"/>
              </a:rPr>
              <a:t>▼(HTTP / ASYNC DISPATCH)</a:t>
            </a:r>
          </a:p>
        </p:txBody>
      </p:sp>
      <p:sp>
        <p:nvSpPr>
          <p:cNvPr id="17" name="TextBox 17"/>
          <p:cNvSpPr txBox="1"/>
          <p:nvPr/>
        </p:nvSpPr>
        <p:spPr>
          <a:xfrm>
            <a:off x="5035282" y="6838368"/>
            <a:ext cx="4760044" cy="350266"/>
          </a:xfrm>
          <a:prstGeom prst="rect">
            <a:avLst/>
          </a:prstGeom>
        </p:spPr>
        <p:txBody>
          <a:bodyPr lIns="0" tIns="0" rIns="0" bIns="0" rtlCol="0" anchor="t">
            <a:spAutoFit/>
          </a:bodyPr>
          <a:lstStyle/>
          <a:p>
            <a:pPr algn="ctr">
              <a:lnSpc>
                <a:spcPts val="2743"/>
              </a:lnSpc>
              <a:spcBef>
                <a:spcPct val="0"/>
              </a:spcBef>
            </a:pPr>
            <a:r>
              <a:rPr lang="en-US" sz="1959" spc="-96">
                <a:solidFill>
                  <a:srgbClr val="000000"/>
                </a:solidFill>
                <a:latin typeface="Times New Roman"/>
                <a:ea typeface="Times New Roman"/>
                <a:cs typeface="Times New Roman"/>
                <a:sym typeface="Times New Roman"/>
              </a:rPr>
              <a:t>┌───────────────────────────┐</a:t>
            </a:r>
          </a:p>
        </p:txBody>
      </p:sp>
      <p:sp>
        <p:nvSpPr>
          <p:cNvPr id="18" name="TextBox 18"/>
          <p:cNvSpPr txBox="1"/>
          <p:nvPr/>
        </p:nvSpPr>
        <p:spPr>
          <a:xfrm>
            <a:off x="5077475" y="7131484"/>
            <a:ext cx="4675659" cy="350266"/>
          </a:xfrm>
          <a:prstGeom prst="rect">
            <a:avLst/>
          </a:prstGeom>
        </p:spPr>
        <p:txBody>
          <a:bodyPr lIns="0" tIns="0" rIns="0" bIns="0" rtlCol="0" anchor="t">
            <a:spAutoFit/>
          </a:bodyPr>
          <a:lstStyle/>
          <a:p>
            <a:pPr algn="ctr">
              <a:lnSpc>
                <a:spcPts val="2743"/>
              </a:lnSpc>
              <a:spcBef>
                <a:spcPct val="0"/>
              </a:spcBef>
            </a:pPr>
            <a:r>
              <a:rPr lang="en-US" sz="1959" spc="-96">
                <a:solidFill>
                  <a:srgbClr val="000000"/>
                </a:solidFill>
                <a:latin typeface="Times New Roman"/>
                <a:ea typeface="Times New Roman"/>
                <a:cs typeface="Times New Roman"/>
                <a:sym typeface="Times New Roman"/>
              </a:rPr>
              <a:t>│ NLP MICROSERVICE: PYTHON / FASTAPI │</a:t>
            </a:r>
          </a:p>
        </p:txBody>
      </p:sp>
      <p:sp>
        <p:nvSpPr>
          <p:cNvPr id="19" name="TextBox 19"/>
          <p:cNvSpPr txBox="1"/>
          <p:nvPr/>
        </p:nvSpPr>
        <p:spPr>
          <a:xfrm>
            <a:off x="5035282" y="7424600"/>
            <a:ext cx="4760044" cy="350266"/>
          </a:xfrm>
          <a:prstGeom prst="rect">
            <a:avLst/>
          </a:prstGeom>
        </p:spPr>
        <p:txBody>
          <a:bodyPr lIns="0" tIns="0" rIns="0" bIns="0" rtlCol="0" anchor="t">
            <a:spAutoFit/>
          </a:bodyPr>
          <a:lstStyle/>
          <a:p>
            <a:pPr algn="ctr">
              <a:lnSpc>
                <a:spcPts val="2743"/>
              </a:lnSpc>
              <a:spcBef>
                <a:spcPct val="0"/>
              </a:spcBef>
            </a:pPr>
            <a:r>
              <a:rPr lang="en-US" sz="1959" spc="-96">
                <a:solidFill>
                  <a:srgbClr val="000000"/>
                </a:solidFill>
                <a:latin typeface="Times New Roman"/>
                <a:ea typeface="Times New Roman"/>
                <a:cs typeface="Times New Roman"/>
                <a:sym typeface="Times New Roman"/>
              </a:rPr>
              <a:t>└─────────────┬─────────────┘</a:t>
            </a:r>
          </a:p>
        </p:txBody>
      </p:sp>
      <p:sp>
        <p:nvSpPr>
          <p:cNvPr id="20" name="TextBox 20"/>
          <p:cNvSpPr txBox="1"/>
          <p:nvPr/>
        </p:nvSpPr>
        <p:spPr>
          <a:xfrm>
            <a:off x="7333226" y="7672250"/>
            <a:ext cx="163610" cy="349289"/>
          </a:xfrm>
          <a:prstGeom prst="rect">
            <a:avLst/>
          </a:prstGeom>
        </p:spPr>
        <p:txBody>
          <a:bodyPr lIns="0" tIns="0" rIns="0" bIns="0" rtlCol="0" anchor="t">
            <a:spAutoFit/>
          </a:bodyPr>
          <a:lstStyle/>
          <a:p>
            <a:pPr algn="ctr">
              <a:lnSpc>
                <a:spcPts val="2734"/>
              </a:lnSpc>
              <a:spcBef>
                <a:spcPct val="0"/>
              </a:spcBef>
            </a:pPr>
            <a:r>
              <a:rPr lang="en-US" sz="1953" spc="-95">
                <a:solidFill>
                  <a:srgbClr val="000000"/>
                </a:solidFill>
                <a:latin typeface="Times New Roman"/>
                <a:ea typeface="Times New Roman"/>
                <a:cs typeface="Times New Roman"/>
                <a:sym typeface="Times New Roman"/>
              </a:rPr>
              <a:t>│</a:t>
            </a:r>
          </a:p>
        </p:txBody>
      </p:sp>
      <p:sp>
        <p:nvSpPr>
          <p:cNvPr id="21" name="TextBox 21"/>
          <p:cNvSpPr txBox="1"/>
          <p:nvPr/>
        </p:nvSpPr>
        <p:spPr>
          <a:xfrm>
            <a:off x="7297940" y="7964389"/>
            <a:ext cx="234181" cy="350266"/>
          </a:xfrm>
          <a:prstGeom prst="rect">
            <a:avLst/>
          </a:prstGeom>
        </p:spPr>
        <p:txBody>
          <a:bodyPr lIns="0" tIns="0" rIns="0" bIns="0" rtlCol="0" anchor="t">
            <a:spAutoFit/>
          </a:bodyPr>
          <a:lstStyle/>
          <a:p>
            <a:pPr algn="ctr">
              <a:lnSpc>
                <a:spcPts val="2743"/>
              </a:lnSpc>
              <a:spcBef>
                <a:spcPct val="0"/>
              </a:spcBef>
            </a:pPr>
            <a:r>
              <a:rPr lang="en-US" sz="1959" spc="-96">
                <a:solidFill>
                  <a:srgbClr val="000000"/>
                </a:solidFill>
                <a:latin typeface="Times New Roman"/>
                <a:ea typeface="Times New Roman"/>
                <a:cs typeface="Times New Roman"/>
                <a:sym typeface="Times New Roman"/>
              </a:rPr>
              <a:t>▼</a:t>
            </a:r>
          </a:p>
        </p:txBody>
      </p:sp>
      <p:sp>
        <p:nvSpPr>
          <p:cNvPr id="22" name="TextBox 22"/>
          <p:cNvSpPr txBox="1"/>
          <p:nvPr/>
        </p:nvSpPr>
        <p:spPr>
          <a:xfrm>
            <a:off x="5077475" y="8305130"/>
            <a:ext cx="4852839" cy="350266"/>
          </a:xfrm>
          <a:prstGeom prst="rect">
            <a:avLst/>
          </a:prstGeom>
        </p:spPr>
        <p:txBody>
          <a:bodyPr lIns="0" tIns="0" rIns="0" bIns="0" rtlCol="0" anchor="t">
            <a:spAutoFit/>
          </a:bodyPr>
          <a:lstStyle/>
          <a:p>
            <a:pPr algn="ctr">
              <a:lnSpc>
                <a:spcPts val="2743"/>
              </a:lnSpc>
              <a:spcBef>
                <a:spcPct val="0"/>
              </a:spcBef>
            </a:pPr>
            <a:r>
              <a:rPr lang="en-US" sz="1959" spc="-96">
                <a:solidFill>
                  <a:srgbClr val="000000"/>
                </a:solidFill>
                <a:latin typeface="Times New Roman"/>
                <a:ea typeface="Times New Roman"/>
                <a:cs typeface="Times New Roman"/>
                <a:sym typeface="Times New Roman"/>
              </a:rPr>
              <a:t>[ MATCHING RESULT &amp; SIMILARITY SCORES ]</a:t>
            </a:r>
          </a:p>
        </p:txBody>
      </p:sp>
      <p:sp>
        <p:nvSpPr>
          <p:cNvPr id="23" name="TextBox 23"/>
          <p:cNvSpPr txBox="1"/>
          <p:nvPr/>
        </p:nvSpPr>
        <p:spPr>
          <a:xfrm>
            <a:off x="9753134" y="5664721"/>
            <a:ext cx="5899696" cy="350266"/>
          </a:xfrm>
          <a:prstGeom prst="rect">
            <a:avLst/>
          </a:prstGeom>
        </p:spPr>
        <p:txBody>
          <a:bodyPr lIns="0" tIns="0" rIns="0" bIns="0" rtlCol="0" anchor="t">
            <a:spAutoFit/>
          </a:bodyPr>
          <a:lstStyle/>
          <a:p>
            <a:pPr algn="ctr">
              <a:lnSpc>
                <a:spcPts val="2743"/>
              </a:lnSpc>
              <a:spcBef>
                <a:spcPct val="0"/>
              </a:spcBef>
            </a:pPr>
            <a:r>
              <a:rPr lang="en-US" sz="1959" spc="-96">
                <a:solidFill>
                  <a:srgbClr val="000000"/>
                </a:solidFill>
                <a:latin typeface="Times New Roman"/>
                <a:ea typeface="Times New Roman"/>
                <a:cs typeface="Times New Roman"/>
                <a:sym typeface="Times New Roman"/>
              </a:rPr>
              <a:t>◄────────────────────────► [ MONGODB ]</a:t>
            </a:r>
          </a:p>
        </p:txBody>
      </p:sp>
      <p:sp>
        <p:nvSpPr>
          <p:cNvPr id="24" name="TextBox 24"/>
          <p:cNvSpPr txBox="1"/>
          <p:nvPr/>
        </p:nvSpPr>
        <p:spPr>
          <a:xfrm>
            <a:off x="14328460" y="6104395"/>
            <a:ext cx="1707356" cy="1036066"/>
          </a:xfrm>
          <a:prstGeom prst="rect">
            <a:avLst/>
          </a:prstGeom>
        </p:spPr>
        <p:txBody>
          <a:bodyPr lIns="0" tIns="0" rIns="0" bIns="0" rtlCol="0" anchor="t">
            <a:spAutoFit/>
          </a:bodyPr>
          <a:lstStyle/>
          <a:p>
            <a:pPr algn="l">
              <a:lnSpc>
                <a:spcPts val="2743"/>
              </a:lnSpc>
              <a:spcBef>
                <a:spcPct val="0"/>
              </a:spcBef>
            </a:pPr>
            <a:r>
              <a:rPr lang="en-US" sz="1959" spc="-96">
                <a:solidFill>
                  <a:srgbClr val="000000"/>
                </a:solidFill>
                <a:latin typeface="Times New Roman"/>
                <a:ea typeface="Times New Roman"/>
                <a:cs typeface="Times New Roman"/>
                <a:sym typeface="Times New Roman"/>
              </a:rPr>
              <a:t>• USER</a:t>
            </a:r>
          </a:p>
          <a:p>
            <a:pPr algn="l">
              <a:lnSpc>
                <a:spcPts val="2743"/>
              </a:lnSpc>
              <a:spcBef>
                <a:spcPct val="0"/>
              </a:spcBef>
            </a:pPr>
            <a:r>
              <a:rPr lang="en-US" sz="1959" spc="-96">
                <a:solidFill>
                  <a:srgbClr val="000000"/>
                </a:solidFill>
                <a:latin typeface="Times New Roman"/>
                <a:ea typeface="Times New Roman"/>
                <a:cs typeface="Times New Roman"/>
                <a:sym typeface="Times New Roman"/>
              </a:rPr>
              <a:t>• JOBS</a:t>
            </a:r>
          </a:p>
          <a:p>
            <a:pPr algn="l">
              <a:lnSpc>
                <a:spcPts val="2743"/>
              </a:lnSpc>
              <a:spcBef>
                <a:spcPct val="0"/>
              </a:spcBef>
            </a:pPr>
            <a:r>
              <a:rPr lang="en-US" sz="1959" spc="-96">
                <a:solidFill>
                  <a:srgbClr val="000000"/>
                </a:solidFill>
                <a:latin typeface="Times New Roman"/>
                <a:ea typeface="Times New Roman"/>
                <a:cs typeface="Times New Roman"/>
                <a:sym typeface="Times New Roman"/>
              </a:rPr>
              <a:t>• APPLICATIONS</a:t>
            </a:r>
          </a:p>
        </p:txBody>
      </p:sp>
      <p:sp>
        <p:nvSpPr>
          <p:cNvPr id="25" name="TextBox 25"/>
          <p:cNvSpPr txBox="1"/>
          <p:nvPr/>
        </p:nvSpPr>
        <p:spPr>
          <a:xfrm>
            <a:off x="11405939" y="5371605"/>
            <a:ext cx="1508150" cy="350266"/>
          </a:xfrm>
          <a:prstGeom prst="rect">
            <a:avLst/>
          </a:prstGeom>
        </p:spPr>
        <p:txBody>
          <a:bodyPr lIns="0" tIns="0" rIns="0" bIns="0" rtlCol="0" anchor="t">
            <a:spAutoFit/>
          </a:bodyPr>
          <a:lstStyle/>
          <a:p>
            <a:pPr algn="ctr">
              <a:lnSpc>
                <a:spcPts val="2743"/>
              </a:lnSpc>
              <a:spcBef>
                <a:spcPct val="0"/>
              </a:spcBef>
            </a:pPr>
            <a:r>
              <a:rPr lang="en-US" sz="1959" spc="-96">
                <a:solidFill>
                  <a:srgbClr val="000000"/>
                </a:solidFill>
                <a:latin typeface="Times New Roman"/>
                <a:ea typeface="Times New Roman"/>
                <a:cs typeface="Times New Roman"/>
                <a:sym typeface="Times New Roman"/>
              </a:rPr>
              <a:t>READ / WRITE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70020F"/>
        </a:solidFill>
        <a:effectLst/>
      </p:bgPr>
    </p:bg>
    <p:spTree>
      <p:nvGrpSpPr>
        <p:cNvPr id="1" name=""/>
        <p:cNvGrpSpPr/>
        <p:nvPr/>
      </p:nvGrpSpPr>
      <p:grpSpPr>
        <a:xfrm>
          <a:off x="0" y="0"/>
          <a:ext cx="0" cy="0"/>
          <a:chOff x="0" y="0"/>
          <a:chExt cx="0" cy="0"/>
        </a:xfrm>
      </p:grpSpPr>
      <p:sp>
        <p:nvSpPr>
          <p:cNvPr id="2" name="TextBox 2"/>
          <p:cNvSpPr txBox="1"/>
          <p:nvPr/>
        </p:nvSpPr>
        <p:spPr>
          <a:xfrm>
            <a:off x="332824" y="707297"/>
            <a:ext cx="16926476" cy="1024893"/>
          </a:xfrm>
          <a:prstGeom prst="rect">
            <a:avLst/>
          </a:prstGeom>
        </p:spPr>
        <p:txBody>
          <a:bodyPr lIns="0" tIns="0" rIns="0" bIns="0" rtlCol="0" anchor="t">
            <a:spAutoFit/>
          </a:bodyPr>
          <a:lstStyle/>
          <a:p>
            <a:pPr algn="l">
              <a:lnSpc>
                <a:spcPts val="7395"/>
              </a:lnSpc>
            </a:pPr>
            <a:r>
              <a:rPr lang="en-US" sz="8700" spc="-426" dirty="0">
                <a:solidFill>
                  <a:srgbClr val="FEDEE1"/>
                </a:solidFill>
                <a:latin typeface="Anton"/>
                <a:ea typeface="Anton"/>
                <a:cs typeface="Anton"/>
                <a:sym typeface="Anton"/>
              </a:rPr>
              <a:t>SYSTEM ARCHITECTURE</a:t>
            </a:r>
          </a:p>
        </p:txBody>
      </p:sp>
      <p:sp>
        <p:nvSpPr>
          <p:cNvPr id="3" name="Freeform 3"/>
          <p:cNvSpPr/>
          <p:nvPr/>
        </p:nvSpPr>
        <p:spPr>
          <a:xfrm>
            <a:off x="16533642" y="1028700"/>
            <a:ext cx="725658" cy="725658"/>
          </a:xfrm>
          <a:custGeom>
            <a:avLst/>
            <a:gdLst/>
            <a:ahLst/>
            <a:cxnLst/>
            <a:rect l="l" t="t" r="r" b="b"/>
            <a:pathLst>
              <a:path w="725658" h="725658">
                <a:moveTo>
                  <a:pt x="0" y="0"/>
                </a:moveTo>
                <a:lnTo>
                  <a:pt x="725658" y="0"/>
                </a:lnTo>
                <a:lnTo>
                  <a:pt x="725658" y="725658"/>
                </a:lnTo>
                <a:lnTo>
                  <a:pt x="0" y="725658"/>
                </a:lnTo>
                <a:lnTo>
                  <a:pt x="0" y="0"/>
                </a:lnTo>
                <a:close/>
              </a:path>
            </a:pathLst>
          </a:custGeom>
          <a:blipFill>
            <a:blip>
              <a:alphaModFix amt="15000"/>
              <a:extLst>
                <a:ext uri="{96DAC541-7B7A-43D3-8B79-37D633B846F1}">
                  <asvg:svgBlip xmlns:asvg="http://schemas.microsoft.com/office/drawing/2016/SVG/main" r:embed="rId2"/>
                </a:ext>
              </a:extLst>
            </a:blip>
            <a:stretch>
              <a:fillRect/>
            </a:stretch>
          </a:blipFill>
        </p:spPr>
      </p:sp>
      <p:sp>
        <p:nvSpPr>
          <p:cNvPr id="4" name="Freeform 4"/>
          <p:cNvSpPr/>
          <p:nvPr/>
        </p:nvSpPr>
        <p:spPr>
          <a:xfrm>
            <a:off x="15141529" y="-184433"/>
            <a:ext cx="3146471" cy="1575962"/>
          </a:xfrm>
          <a:custGeom>
            <a:avLst/>
            <a:gdLst/>
            <a:ahLst/>
            <a:cxnLst/>
            <a:rect l="l" t="t" r="r" b="b"/>
            <a:pathLst>
              <a:path w="3146471" h="1575962">
                <a:moveTo>
                  <a:pt x="0" y="0"/>
                </a:moveTo>
                <a:lnTo>
                  <a:pt x="3146471" y="0"/>
                </a:lnTo>
                <a:lnTo>
                  <a:pt x="3146471" y="1575962"/>
                </a:lnTo>
                <a:lnTo>
                  <a:pt x="0" y="1575962"/>
                </a:lnTo>
                <a:lnTo>
                  <a:pt x="0" y="0"/>
                </a:lnTo>
                <a:close/>
              </a:path>
            </a:pathLst>
          </a:custGeom>
          <a:blipFill>
            <a:blip r:embed="rId3"/>
            <a:stretch>
              <a:fillRect t="-49268" b="-49486"/>
            </a:stretch>
          </a:blipFill>
        </p:spPr>
      </p:sp>
      <p:sp>
        <p:nvSpPr>
          <p:cNvPr id="5" name="Freeform 5"/>
          <p:cNvSpPr/>
          <p:nvPr/>
        </p:nvSpPr>
        <p:spPr>
          <a:xfrm>
            <a:off x="5466119" y="2650406"/>
            <a:ext cx="7692613" cy="6203763"/>
          </a:xfrm>
          <a:custGeom>
            <a:avLst/>
            <a:gdLst/>
            <a:ahLst/>
            <a:cxnLst/>
            <a:rect l="l" t="t" r="r" b="b"/>
            <a:pathLst>
              <a:path w="7692613" h="6203763">
                <a:moveTo>
                  <a:pt x="0" y="0"/>
                </a:moveTo>
                <a:lnTo>
                  <a:pt x="7692613" y="0"/>
                </a:lnTo>
                <a:lnTo>
                  <a:pt x="7692613" y="6203763"/>
                </a:lnTo>
                <a:lnTo>
                  <a:pt x="0" y="6203763"/>
                </a:lnTo>
                <a:lnTo>
                  <a:pt x="0" y="0"/>
                </a:lnTo>
                <a:close/>
              </a:path>
            </a:pathLst>
          </a:custGeom>
          <a:blipFill>
            <a:blip r:embed="rId4"/>
            <a:stretch>
              <a:fillRect t="-1484" r="-670" b="-3476"/>
            </a:stretch>
          </a:blipFill>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70020F"/>
        </a:solidFill>
        <a:effectLst/>
      </p:bgPr>
    </p:bg>
    <p:spTree>
      <p:nvGrpSpPr>
        <p:cNvPr id="1" name=""/>
        <p:cNvGrpSpPr/>
        <p:nvPr/>
      </p:nvGrpSpPr>
      <p:grpSpPr>
        <a:xfrm>
          <a:off x="0" y="0"/>
          <a:ext cx="0" cy="0"/>
          <a:chOff x="0" y="0"/>
          <a:chExt cx="0" cy="0"/>
        </a:xfrm>
      </p:grpSpPr>
      <p:sp>
        <p:nvSpPr>
          <p:cNvPr id="2" name="TextBox 2"/>
          <p:cNvSpPr txBox="1"/>
          <p:nvPr/>
        </p:nvSpPr>
        <p:spPr>
          <a:xfrm>
            <a:off x="4356445" y="3835882"/>
            <a:ext cx="11788418" cy="2384426"/>
          </a:xfrm>
          <a:prstGeom prst="rect">
            <a:avLst/>
          </a:prstGeom>
        </p:spPr>
        <p:txBody>
          <a:bodyPr lIns="0" tIns="0" rIns="0" bIns="0" rtlCol="0" anchor="t">
            <a:spAutoFit/>
          </a:bodyPr>
          <a:lstStyle/>
          <a:p>
            <a:pPr algn="l">
              <a:lnSpc>
                <a:spcPts val="17000"/>
              </a:lnSpc>
            </a:pPr>
            <a:r>
              <a:rPr lang="en-US" sz="20000" spc="-980">
                <a:solidFill>
                  <a:srgbClr val="FEDEE1"/>
                </a:solidFill>
                <a:latin typeface="Anton"/>
                <a:ea typeface="Anton"/>
                <a:cs typeface="Anton"/>
                <a:sym typeface="Anton"/>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TotalTime>
  <Words>414</Words>
  <Application>Microsoft Office PowerPoint</Application>
  <PresentationFormat>Custom</PresentationFormat>
  <Paragraphs>64</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Times New Roman Bold</vt:lpstr>
      <vt:lpstr>Anton</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Pitch Deck</dc:title>
  <cp:lastModifiedBy>Aasritha sai lakshmi Kallepalli</cp:lastModifiedBy>
  <cp:revision>2</cp:revision>
  <dcterms:created xsi:type="dcterms:W3CDTF">2006-08-16T00:00:00Z</dcterms:created>
  <dcterms:modified xsi:type="dcterms:W3CDTF">2026-10-02T12:57:07Z</dcterms:modified>
  <dc:identifier>DAHTKsabS_U</dc:identifier>
</cp:coreProperties>
</file>