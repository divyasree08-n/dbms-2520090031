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Open Sauce Bold" charset="1" panose="00000800000000000000"/>
      <p:regular r:id="rId16"/>
    </p:embeddedFont>
    <p:embeddedFont>
      <p:font typeface="Open Sauce" charset="1" panose="000005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530831" y="1922376"/>
            <a:ext cx="10117107" cy="5903364"/>
          </a:xfrm>
          <a:prstGeom prst="rect">
            <a:avLst/>
          </a:prstGeom>
        </p:spPr>
        <p:txBody>
          <a:bodyPr anchor="t" rtlCol="false" tIns="0" lIns="0" bIns="0" rIns="0">
            <a:spAutoFit/>
          </a:bodyPr>
          <a:lstStyle/>
          <a:p>
            <a:pPr algn="l">
              <a:lnSpc>
                <a:spcPts val="11540"/>
              </a:lnSpc>
            </a:pPr>
            <a:r>
              <a:rPr lang="en-US" sz="11540" spc="-692" b="true">
                <a:solidFill>
                  <a:srgbClr val="331B0D"/>
                </a:solidFill>
                <a:latin typeface="Open Sauce Bold"/>
                <a:ea typeface="Open Sauce Bold"/>
                <a:cs typeface="Open Sauce Bold"/>
                <a:sym typeface="Open Sauce Bold"/>
              </a:rPr>
              <a:t>Job Portal with Resume Parsing and Matching</a:t>
            </a:r>
          </a:p>
        </p:txBody>
      </p:sp>
      <p:sp>
        <p:nvSpPr>
          <p:cNvPr name="TextBox 3" id="3"/>
          <p:cNvSpPr txBox="true"/>
          <p:nvPr/>
        </p:nvSpPr>
        <p:spPr>
          <a:xfrm rot="0">
            <a:off x="12206148" y="7306565"/>
            <a:ext cx="4560684" cy="327660"/>
          </a:xfrm>
          <a:prstGeom prst="rect">
            <a:avLst/>
          </a:prstGeom>
        </p:spPr>
        <p:txBody>
          <a:bodyPr anchor="t" rtlCol="false" tIns="0" lIns="0" bIns="0" rIns="0">
            <a:spAutoFit/>
          </a:bodyPr>
          <a:lstStyle/>
          <a:p>
            <a:pPr algn="just">
              <a:lnSpc>
                <a:spcPts val="2400"/>
              </a:lnSpc>
              <a:spcBef>
                <a:spcPct val="0"/>
              </a:spcBef>
            </a:pPr>
            <a:r>
              <a:rPr lang="en-US" b="true" sz="2400" spc="240">
                <a:solidFill>
                  <a:srgbClr val="8C7753"/>
                </a:solidFill>
                <a:latin typeface="Open Sauce Bold"/>
                <a:ea typeface="Open Sauce Bold"/>
                <a:cs typeface="Open Sauce Bold"/>
                <a:sym typeface="Open Sauce Bold"/>
              </a:rPr>
              <a:t>TEAM 12</a:t>
            </a:r>
          </a:p>
        </p:txBody>
      </p:sp>
      <p:sp>
        <p:nvSpPr>
          <p:cNvPr name="TextBox 4" id="4"/>
          <p:cNvSpPr txBox="true"/>
          <p:nvPr/>
        </p:nvSpPr>
        <p:spPr>
          <a:xfrm rot="0">
            <a:off x="12206148" y="7787640"/>
            <a:ext cx="5682417" cy="1153795"/>
          </a:xfrm>
          <a:prstGeom prst="rect">
            <a:avLst/>
          </a:prstGeom>
        </p:spPr>
        <p:txBody>
          <a:bodyPr anchor="t" rtlCol="false" tIns="0" lIns="0" bIns="0" rIns="0">
            <a:spAutoFit/>
          </a:bodyPr>
          <a:lstStyle/>
          <a:p>
            <a:pPr algn="just">
              <a:lnSpc>
                <a:spcPts val="3079"/>
              </a:lnSpc>
            </a:pPr>
            <a:r>
              <a:rPr lang="en-US" sz="2199">
                <a:solidFill>
                  <a:srgbClr val="331B0D"/>
                </a:solidFill>
                <a:latin typeface="Open Sauce"/>
                <a:ea typeface="Open Sauce"/>
                <a:cs typeface="Open Sauce"/>
                <a:sym typeface="Open Sauce"/>
              </a:rPr>
              <a:t>K. Aasritha Sai Lakshmi — 2520090006</a:t>
            </a:r>
          </a:p>
          <a:p>
            <a:pPr algn="just">
              <a:lnSpc>
                <a:spcPts val="3079"/>
              </a:lnSpc>
            </a:pPr>
            <a:r>
              <a:rPr lang="en-US" sz="2199">
                <a:solidFill>
                  <a:srgbClr val="331B0D"/>
                </a:solidFill>
                <a:latin typeface="Open Sauce"/>
                <a:ea typeface="Open Sauce"/>
                <a:cs typeface="Open Sauce"/>
                <a:sym typeface="Open Sauce"/>
              </a:rPr>
              <a:t>Komali Varnika — 2520090010</a:t>
            </a:r>
          </a:p>
          <a:p>
            <a:pPr algn="just">
              <a:lnSpc>
                <a:spcPts val="3079"/>
              </a:lnSpc>
            </a:pPr>
            <a:r>
              <a:rPr lang="en-US" sz="2199">
                <a:solidFill>
                  <a:srgbClr val="331B0D"/>
                </a:solidFill>
                <a:latin typeface="Open Sauce"/>
                <a:ea typeface="Open Sauce"/>
                <a:cs typeface="Open Sauce"/>
                <a:sym typeface="Open Sauce"/>
              </a:rPr>
              <a:t>Divya Sree — 2520090031</a:t>
            </a:r>
          </a:p>
        </p:txBody>
      </p:sp>
      <p:sp>
        <p:nvSpPr>
          <p:cNvPr name="TextBox 5" id="5"/>
          <p:cNvSpPr txBox="true"/>
          <p:nvPr/>
        </p:nvSpPr>
        <p:spPr>
          <a:xfrm rot="0">
            <a:off x="700388" y="8198396"/>
            <a:ext cx="6663038" cy="343624"/>
          </a:xfrm>
          <a:prstGeom prst="rect">
            <a:avLst/>
          </a:prstGeom>
        </p:spPr>
        <p:txBody>
          <a:bodyPr anchor="t" rtlCol="false" tIns="0" lIns="0" bIns="0" rIns="0">
            <a:spAutoFit/>
          </a:bodyPr>
          <a:lstStyle/>
          <a:p>
            <a:pPr algn="just">
              <a:lnSpc>
                <a:spcPts val="2629"/>
              </a:lnSpc>
              <a:spcBef>
                <a:spcPct val="0"/>
              </a:spcBef>
            </a:pPr>
            <a:r>
              <a:rPr lang="en-US" b="true" sz="2629" spc="262">
                <a:solidFill>
                  <a:srgbClr val="8C7753"/>
                </a:solidFill>
                <a:latin typeface="Open Sauce Bold"/>
                <a:ea typeface="Open Sauce Bold"/>
                <a:cs typeface="Open Sauce Bold"/>
                <a:sym typeface="Open Sauce Bold"/>
              </a:rPr>
              <a:t>REVIEW 3</a:t>
            </a:r>
          </a:p>
        </p:txBody>
      </p:sp>
      <p:sp>
        <p:nvSpPr>
          <p:cNvPr name="TextBox 6" id="6"/>
          <p:cNvSpPr txBox="true"/>
          <p:nvPr/>
        </p:nvSpPr>
        <p:spPr>
          <a:xfrm rot="0">
            <a:off x="10028356" y="3896475"/>
            <a:ext cx="7860208" cy="1420495"/>
          </a:xfrm>
          <a:prstGeom prst="rect">
            <a:avLst/>
          </a:prstGeom>
        </p:spPr>
        <p:txBody>
          <a:bodyPr anchor="t" rtlCol="false" tIns="0" lIns="0" bIns="0" rIns="0">
            <a:spAutoFit/>
          </a:bodyPr>
          <a:lstStyle/>
          <a:p>
            <a:pPr algn="just">
              <a:lnSpc>
                <a:spcPts val="2200"/>
              </a:lnSpc>
            </a:pPr>
            <a:r>
              <a:rPr lang="en-US" b="true" sz="2200" spc="220">
                <a:solidFill>
                  <a:srgbClr val="8C7753"/>
                </a:solidFill>
                <a:latin typeface="Open Sauce Bold"/>
                <a:ea typeface="Open Sauce Bold"/>
                <a:cs typeface="Open Sauce Bold"/>
                <a:sym typeface="Open Sauce Bold"/>
              </a:rPr>
              <a:t>COURSE:-DATABASE SYSTEMS ENGINEERING AND DISTRIBUTED BACKEND DEVELOPMENT</a:t>
            </a:r>
          </a:p>
          <a:p>
            <a:pPr algn="just">
              <a:lnSpc>
                <a:spcPts val="2200"/>
              </a:lnSpc>
            </a:pPr>
            <a:r>
              <a:rPr lang="en-US" b="true" sz="2200" spc="220">
                <a:solidFill>
                  <a:srgbClr val="8C7753"/>
                </a:solidFill>
                <a:latin typeface="Open Sauce Bold"/>
                <a:ea typeface="Open Sauce Bold"/>
                <a:cs typeface="Open Sauce Bold"/>
                <a:sym typeface="Open Sauce Bold"/>
              </a:rPr>
              <a:t>•COURSE CODE: 25CS1302E</a:t>
            </a:r>
          </a:p>
          <a:p>
            <a:pPr algn="just">
              <a:lnSpc>
                <a:spcPts val="2200"/>
              </a:lnSpc>
            </a:pPr>
          </a:p>
          <a:p>
            <a:pPr algn="just">
              <a:lnSpc>
                <a:spcPts val="2400"/>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Abstract</a:t>
            </a:r>
          </a:p>
        </p:txBody>
      </p:sp>
      <p:sp>
        <p:nvSpPr>
          <p:cNvPr name="TextBox 3" id="3"/>
          <p:cNvSpPr txBox="true"/>
          <p:nvPr/>
        </p:nvSpPr>
        <p:spPr>
          <a:xfrm rot="0">
            <a:off x="755107" y="2822443"/>
            <a:ext cx="16676588" cy="6729096"/>
          </a:xfrm>
          <a:prstGeom prst="rect">
            <a:avLst/>
          </a:prstGeom>
        </p:spPr>
        <p:txBody>
          <a:bodyPr anchor="t" rtlCol="false" tIns="0" lIns="0" bIns="0" rIns="0">
            <a:spAutoFit/>
          </a:bodyPr>
          <a:lstStyle/>
          <a:p>
            <a:pPr algn="l">
              <a:lnSpc>
                <a:spcPts val="4479"/>
              </a:lnSpc>
            </a:pPr>
            <a:r>
              <a:rPr lang="en-US" sz="3199">
                <a:solidFill>
                  <a:srgbClr val="331B0D"/>
                </a:solidFill>
                <a:latin typeface="Open Sauce"/>
                <a:ea typeface="Open Sauce"/>
                <a:cs typeface="Open Sauce"/>
                <a:sym typeface="Open Sauce"/>
              </a:rPr>
              <a:t>•Recruitment can be time-consuming because recruiters have to manually check many resumes.</a:t>
            </a:r>
          </a:p>
          <a:p>
            <a:pPr algn="l">
              <a:lnSpc>
                <a:spcPts val="4479"/>
              </a:lnSpc>
            </a:pPr>
            <a:r>
              <a:rPr lang="en-US" sz="3199">
                <a:solidFill>
                  <a:srgbClr val="331B0D"/>
                </a:solidFill>
                <a:latin typeface="Open Sauce"/>
                <a:ea typeface="Open Sauce"/>
                <a:cs typeface="Open Sauce"/>
                <a:sym typeface="Open Sauce"/>
              </a:rPr>
              <a:t>•The project Job Portal with Resume Parsing &amp; Matching makes the recruitment process faster and easier.</a:t>
            </a:r>
          </a:p>
          <a:p>
            <a:pPr algn="l">
              <a:lnSpc>
                <a:spcPts val="4479"/>
              </a:lnSpc>
            </a:pPr>
            <a:r>
              <a:rPr lang="en-US" sz="3199">
                <a:solidFill>
                  <a:srgbClr val="331B0D"/>
                </a:solidFill>
                <a:latin typeface="Open Sauce"/>
                <a:ea typeface="Open Sauce"/>
                <a:cs typeface="Open Sauce"/>
                <a:sym typeface="Open Sauce"/>
              </a:rPr>
              <a:t>•Candidates can upload their resumes, and the system automatically extracts skills, education, and experience.</a:t>
            </a:r>
          </a:p>
          <a:p>
            <a:pPr algn="l">
              <a:lnSpc>
                <a:spcPts val="4479"/>
              </a:lnSpc>
            </a:pPr>
            <a:r>
              <a:rPr lang="en-US" sz="3199">
                <a:solidFill>
                  <a:srgbClr val="331B0D"/>
                </a:solidFill>
                <a:latin typeface="Open Sauce"/>
                <a:ea typeface="Open Sauce"/>
                <a:cs typeface="Open Sauce"/>
                <a:sym typeface="Open Sauce"/>
              </a:rPr>
              <a:t>•The system compares the candidate's skills with the job requirements.</a:t>
            </a:r>
          </a:p>
          <a:p>
            <a:pPr algn="l">
              <a:lnSpc>
                <a:spcPts val="4479"/>
              </a:lnSpc>
            </a:pPr>
            <a:r>
              <a:rPr lang="en-US" sz="3199">
                <a:solidFill>
                  <a:srgbClr val="331B0D"/>
                </a:solidFill>
                <a:latin typeface="Open Sauce"/>
                <a:ea typeface="Open Sauce"/>
                <a:cs typeface="Open Sauce"/>
                <a:sym typeface="Open Sauce"/>
              </a:rPr>
              <a:t>•It provides a matching score to help recruiters find suitable candidates.</a:t>
            </a:r>
          </a:p>
          <a:p>
            <a:pPr algn="l">
              <a:lnSpc>
                <a:spcPts val="4479"/>
              </a:lnSpc>
            </a:pPr>
            <a:r>
              <a:rPr lang="en-US" sz="3199">
                <a:solidFill>
                  <a:srgbClr val="331B0D"/>
                </a:solidFill>
                <a:latin typeface="Open Sauce"/>
                <a:ea typeface="Open Sauce"/>
                <a:cs typeface="Open Sauce"/>
                <a:sym typeface="Open Sauce"/>
              </a:rPr>
              <a:t>•MongoDB stores activity and log information.</a:t>
            </a:r>
          </a:p>
          <a:p>
            <a:pPr algn="l">
              <a:lnSpc>
                <a:spcPts val="4479"/>
              </a:lnSpc>
            </a:pPr>
            <a:r>
              <a:rPr lang="en-US" sz="3199">
                <a:solidFill>
                  <a:srgbClr val="331B0D"/>
                </a:solidFill>
                <a:latin typeface="Open Sauce"/>
                <a:ea typeface="Open Sauce"/>
                <a:cs typeface="Open Sauce"/>
                <a:sym typeface="Open Sauce"/>
              </a:rPr>
              <a:t>.Overall, the project provides a faster, smarter, and more efficient way to find suitable candidates.</a:t>
            </a:r>
          </a:p>
          <a:p>
            <a:pPr algn="l">
              <a:lnSpc>
                <a:spcPts val="4479"/>
              </a:lnSpc>
              <a:spcBef>
                <a:spcPct val="0"/>
              </a:spcBef>
            </a:pPr>
          </a:p>
        </p:txBody>
      </p:sp>
      <p:sp>
        <p:nvSpPr>
          <p:cNvPr name="TextBox 4" id="4"/>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2</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642249" y="895350"/>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Problem Statement</a:t>
            </a:r>
          </a:p>
        </p:txBody>
      </p:sp>
      <p:sp>
        <p:nvSpPr>
          <p:cNvPr name="TextBox 3" id="3"/>
          <p:cNvSpPr txBox="true"/>
          <p:nvPr/>
        </p:nvSpPr>
        <p:spPr>
          <a:xfrm rot="0">
            <a:off x="766997" y="1786254"/>
            <a:ext cx="16754006" cy="3357246"/>
          </a:xfrm>
          <a:prstGeom prst="rect">
            <a:avLst/>
          </a:prstGeom>
        </p:spPr>
        <p:txBody>
          <a:bodyPr anchor="t" rtlCol="false" tIns="0" lIns="0" bIns="0" rIns="0">
            <a:spAutoFit/>
          </a:bodyPr>
          <a:lstStyle/>
          <a:p>
            <a:pPr algn="l">
              <a:lnSpc>
                <a:spcPts val="4479"/>
              </a:lnSpc>
              <a:spcBef>
                <a:spcPct val="0"/>
              </a:spcBef>
            </a:pPr>
            <a:r>
              <a:rPr lang="en-US" sz="3199">
                <a:solidFill>
                  <a:srgbClr val="331B0D"/>
                </a:solidFill>
                <a:latin typeface="Open Sauce"/>
                <a:ea typeface="Open Sauce"/>
                <a:cs typeface="Open Sauce"/>
                <a:sym typeface="Open Sauce"/>
              </a:rPr>
              <a:t>Re</a:t>
            </a:r>
            <a:r>
              <a:rPr lang="en-US" sz="3199">
                <a:solidFill>
                  <a:srgbClr val="331B0D"/>
                </a:solidFill>
                <a:latin typeface="Open Sauce"/>
                <a:ea typeface="Open Sauce"/>
                <a:cs typeface="Open Sauce"/>
                <a:sym typeface="Open Sauce"/>
              </a:rPr>
              <a:t>cruiters face significant challenges in hiring: they must manually screen large volumes of resumes, which consumes time and effort, often makes it difficult to identify the right candidates, and can lead to inaccurate skill matching. As applications increase, managing the entire hiring process becomes even more complex.</a:t>
            </a:r>
          </a:p>
          <a:p>
            <a:pPr algn="l">
              <a:lnSpc>
                <a:spcPts val="4479"/>
              </a:lnSpc>
              <a:spcBef>
                <a:spcPct val="0"/>
              </a:spcBef>
            </a:pPr>
          </a:p>
        </p:txBody>
      </p:sp>
      <p:sp>
        <p:nvSpPr>
          <p:cNvPr name="TextBox 4" id="4"/>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3</a:t>
            </a:r>
          </a:p>
        </p:txBody>
      </p:sp>
      <p:sp>
        <p:nvSpPr>
          <p:cNvPr name="TextBox 5" id="5"/>
          <p:cNvSpPr txBox="true"/>
          <p:nvPr/>
        </p:nvSpPr>
        <p:spPr>
          <a:xfrm rot="0">
            <a:off x="837185" y="5086350"/>
            <a:ext cx="4473749" cy="504825"/>
          </a:xfrm>
          <a:prstGeom prst="rect">
            <a:avLst/>
          </a:prstGeom>
        </p:spPr>
        <p:txBody>
          <a:bodyPr anchor="t" rtlCol="false" tIns="0" lIns="0" bIns="0" rIns="0">
            <a:spAutoFit/>
          </a:bodyPr>
          <a:lstStyle/>
          <a:p>
            <a:pPr algn="l">
              <a:lnSpc>
                <a:spcPts val="4199"/>
              </a:lnSpc>
              <a:spcBef>
                <a:spcPct val="0"/>
              </a:spcBef>
            </a:pPr>
            <a:r>
              <a:rPr lang="en-US" sz="2999">
                <a:solidFill>
                  <a:srgbClr val="8C7753"/>
                </a:solidFill>
                <a:latin typeface="Open Sauce"/>
                <a:ea typeface="Open Sauce"/>
                <a:cs typeface="Open Sauce"/>
                <a:sym typeface="Open Sauce"/>
              </a:rPr>
              <a:t> Objectives</a:t>
            </a:r>
          </a:p>
        </p:txBody>
      </p:sp>
      <p:sp>
        <p:nvSpPr>
          <p:cNvPr name="TextBox 6" id="6"/>
          <p:cNvSpPr txBox="true"/>
          <p:nvPr/>
        </p:nvSpPr>
        <p:spPr>
          <a:xfrm rot="0">
            <a:off x="642249" y="5838825"/>
            <a:ext cx="15440758" cy="3175636"/>
          </a:xfrm>
          <a:prstGeom prst="rect">
            <a:avLst/>
          </a:prstGeom>
        </p:spPr>
        <p:txBody>
          <a:bodyPr anchor="t" rtlCol="false" tIns="0" lIns="0" bIns="0" rIns="0">
            <a:spAutoFit/>
          </a:bodyPr>
          <a:lstStyle/>
          <a:p>
            <a:pPr algn="l" marL="777232" indent="-388616" lvl="1">
              <a:lnSpc>
                <a:spcPts val="5039"/>
              </a:lnSpc>
              <a:spcBef>
                <a:spcPct val="0"/>
              </a:spcBef>
              <a:buFont typeface="Arial"/>
              <a:buChar char="•"/>
            </a:pPr>
            <a:r>
              <a:rPr lang="en-US" sz="3599">
                <a:solidFill>
                  <a:srgbClr val="331B0D"/>
                </a:solidFill>
                <a:latin typeface="Open Sauce"/>
                <a:ea typeface="Open Sauce"/>
                <a:cs typeface="Open Sauce"/>
                <a:sym typeface="Open Sauce"/>
              </a:rPr>
              <a:t>Autom</a:t>
            </a:r>
            <a:r>
              <a:rPr lang="en-US" sz="3599">
                <a:solidFill>
                  <a:srgbClr val="331B0D"/>
                </a:solidFill>
                <a:latin typeface="Open Sauce"/>
                <a:ea typeface="Open Sauce"/>
                <a:cs typeface="Open Sauce"/>
                <a:sym typeface="Open Sauce"/>
              </a:rPr>
              <a:t>ate resume parsing to extract candidate details and skills</a:t>
            </a:r>
          </a:p>
          <a:p>
            <a:pPr algn="l" marL="777232" indent="-388616" lvl="1">
              <a:lnSpc>
                <a:spcPts val="5039"/>
              </a:lnSpc>
              <a:spcBef>
                <a:spcPct val="0"/>
              </a:spcBef>
              <a:buFont typeface="Arial"/>
              <a:buChar char="•"/>
            </a:pPr>
            <a:r>
              <a:rPr lang="en-US" sz="3599">
                <a:solidFill>
                  <a:srgbClr val="331B0D"/>
                </a:solidFill>
                <a:latin typeface="Open Sauce"/>
                <a:ea typeface="Open Sauce"/>
                <a:cs typeface="Open Sauce"/>
                <a:sym typeface="Open Sauce"/>
              </a:rPr>
              <a:t>E</a:t>
            </a:r>
            <a:r>
              <a:rPr lang="en-US" sz="3599">
                <a:solidFill>
                  <a:srgbClr val="331B0D"/>
                </a:solidFill>
                <a:latin typeface="Open Sauce"/>
                <a:ea typeface="Open Sauce"/>
                <a:cs typeface="Open Sauce"/>
                <a:sym typeface="Open Sauce"/>
              </a:rPr>
              <a:t>nable accurate skill‑to‑job requirement comparison</a:t>
            </a:r>
          </a:p>
          <a:p>
            <a:pPr algn="l" marL="777232" indent="-388616" lvl="1">
              <a:lnSpc>
                <a:spcPts val="5039"/>
              </a:lnSpc>
              <a:spcBef>
                <a:spcPct val="0"/>
              </a:spcBef>
              <a:buFont typeface="Arial"/>
              <a:buChar char="•"/>
            </a:pPr>
            <a:r>
              <a:rPr lang="en-US" sz="3599">
                <a:solidFill>
                  <a:srgbClr val="331B0D"/>
                </a:solidFill>
                <a:latin typeface="Open Sauce"/>
                <a:ea typeface="Open Sauce"/>
                <a:cs typeface="Open Sauce"/>
                <a:sym typeface="Open Sauce"/>
              </a:rPr>
              <a:t>Provide a candidate suitability/matching score for quick shortlisting</a:t>
            </a:r>
          </a:p>
          <a:p>
            <a:pPr algn="l" marL="777232" indent="-388616" lvl="1">
              <a:lnSpc>
                <a:spcPts val="5039"/>
              </a:lnSpc>
              <a:spcBef>
                <a:spcPct val="0"/>
              </a:spcBef>
              <a:buFont typeface="Arial"/>
              <a:buChar char="•"/>
            </a:pPr>
            <a:r>
              <a:rPr lang="en-US" sz="3599">
                <a:solidFill>
                  <a:srgbClr val="331B0D"/>
                </a:solidFill>
                <a:latin typeface="Open Sauce"/>
                <a:ea typeface="Open Sauce"/>
                <a:cs typeface="Open Sauce"/>
                <a:sym typeface="Open Sauce"/>
              </a:rPr>
              <a:t>Simplify and accelerate the overall recruitment process</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642249" y="923925"/>
            <a:ext cx="8115300" cy="872489"/>
          </a:xfrm>
          <a:prstGeom prst="rect">
            <a:avLst/>
          </a:prstGeom>
        </p:spPr>
        <p:txBody>
          <a:bodyPr anchor="t" rtlCol="false" tIns="0" lIns="0" bIns="0" rIns="0">
            <a:spAutoFit/>
          </a:bodyPr>
          <a:lstStyle/>
          <a:p>
            <a:pPr algn="l">
              <a:lnSpc>
                <a:spcPts val="6599"/>
              </a:lnSpc>
            </a:pPr>
            <a:r>
              <a:rPr lang="en-US" sz="6599" spc="-395">
                <a:solidFill>
                  <a:srgbClr val="8C7753"/>
                </a:solidFill>
                <a:latin typeface="Open Sauce"/>
                <a:ea typeface="Open Sauce"/>
                <a:cs typeface="Open Sauce"/>
                <a:sym typeface="Open Sauce"/>
              </a:rPr>
              <a:t>Proposed Solution</a:t>
            </a:r>
          </a:p>
        </p:txBody>
      </p:sp>
      <p:sp>
        <p:nvSpPr>
          <p:cNvPr name="TextBox 3" id="3"/>
          <p:cNvSpPr txBox="true"/>
          <p:nvPr/>
        </p:nvSpPr>
        <p:spPr>
          <a:xfrm rot="0">
            <a:off x="505294" y="2379979"/>
            <a:ext cx="16754006" cy="5441316"/>
          </a:xfrm>
          <a:prstGeom prst="rect">
            <a:avLst/>
          </a:prstGeom>
        </p:spPr>
        <p:txBody>
          <a:bodyPr anchor="t" rtlCol="false" tIns="0" lIns="0" bIns="0" rIns="0">
            <a:spAutoFit/>
          </a:bodyPr>
          <a:lstStyle/>
          <a:p>
            <a:pPr algn="l">
              <a:lnSpc>
                <a:spcPts val="6159"/>
              </a:lnSpc>
              <a:spcBef>
                <a:spcPct val="0"/>
              </a:spcBef>
            </a:pPr>
            <a:r>
              <a:rPr lang="en-US" sz="4399">
                <a:solidFill>
                  <a:srgbClr val="331B0D"/>
                </a:solidFill>
                <a:latin typeface="Open Sauce"/>
                <a:ea typeface="Open Sauce"/>
                <a:cs typeface="Open Sauce"/>
                <a:sym typeface="Open Sauce"/>
              </a:rPr>
              <a:t>1.C</a:t>
            </a:r>
            <a:r>
              <a:rPr lang="en-US" sz="4399">
                <a:solidFill>
                  <a:srgbClr val="331B0D"/>
                </a:solidFill>
                <a:latin typeface="Open Sauce"/>
                <a:ea typeface="Open Sauce"/>
                <a:cs typeface="Open Sauce"/>
                <a:sym typeface="Open Sauce"/>
              </a:rPr>
              <a:t>andidate uploads resume</a:t>
            </a:r>
          </a:p>
          <a:p>
            <a:pPr algn="l">
              <a:lnSpc>
                <a:spcPts val="6159"/>
              </a:lnSpc>
              <a:spcBef>
                <a:spcPct val="0"/>
              </a:spcBef>
            </a:pPr>
            <a:r>
              <a:rPr lang="en-US" sz="4399">
                <a:solidFill>
                  <a:srgbClr val="331B0D"/>
                </a:solidFill>
                <a:latin typeface="Open Sauce"/>
                <a:ea typeface="Open Sauce"/>
                <a:cs typeface="Open Sauce"/>
                <a:sym typeface="Open Sauce"/>
              </a:rPr>
              <a:t>2.Resume parsing extracts text &amp; data</a:t>
            </a:r>
          </a:p>
          <a:p>
            <a:pPr algn="l">
              <a:lnSpc>
                <a:spcPts val="6159"/>
              </a:lnSpc>
              <a:spcBef>
                <a:spcPct val="0"/>
              </a:spcBef>
            </a:pPr>
            <a:r>
              <a:rPr lang="en-US" sz="4399">
                <a:solidFill>
                  <a:srgbClr val="331B0D"/>
                </a:solidFill>
                <a:latin typeface="Open Sauce"/>
                <a:ea typeface="Open Sauce"/>
                <a:cs typeface="Open Sauce"/>
                <a:sym typeface="Open Sauce"/>
              </a:rPr>
              <a:t>3.Skills and qualifications identified using NLP</a:t>
            </a:r>
          </a:p>
          <a:p>
            <a:pPr algn="l">
              <a:lnSpc>
                <a:spcPts val="6159"/>
              </a:lnSpc>
              <a:spcBef>
                <a:spcPct val="0"/>
              </a:spcBef>
            </a:pPr>
            <a:r>
              <a:rPr lang="en-US" sz="4399">
                <a:solidFill>
                  <a:srgbClr val="331B0D"/>
                </a:solidFill>
                <a:latin typeface="Open Sauce"/>
                <a:ea typeface="Open Sauce"/>
                <a:cs typeface="Open Sauce"/>
                <a:sym typeface="Open Sauce"/>
              </a:rPr>
              <a:t>4.Job requirements compared with candidate profile</a:t>
            </a:r>
          </a:p>
          <a:p>
            <a:pPr algn="l">
              <a:lnSpc>
                <a:spcPts val="6159"/>
              </a:lnSpc>
              <a:spcBef>
                <a:spcPct val="0"/>
              </a:spcBef>
            </a:pPr>
            <a:r>
              <a:rPr lang="en-US" sz="4399">
                <a:solidFill>
                  <a:srgbClr val="331B0D"/>
                </a:solidFill>
                <a:latin typeface="Open Sauce"/>
                <a:ea typeface="Open Sauce"/>
                <a:cs typeface="Open Sauce"/>
                <a:sym typeface="Open Sauce"/>
              </a:rPr>
              <a:t>5.Matching score generated for suitability</a:t>
            </a:r>
          </a:p>
          <a:p>
            <a:pPr algn="l">
              <a:lnSpc>
                <a:spcPts val="6159"/>
              </a:lnSpc>
              <a:spcBef>
                <a:spcPct val="0"/>
              </a:spcBef>
            </a:pPr>
            <a:r>
              <a:rPr lang="en-US" sz="4399">
                <a:solidFill>
                  <a:srgbClr val="331B0D"/>
                </a:solidFill>
                <a:latin typeface="Open Sauce"/>
                <a:ea typeface="Open Sauce"/>
                <a:cs typeface="Open Sauce"/>
                <a:sym typeface="Open Sauce"/>
              </a:rPr>
              <a:t>6.Recruiter shortlists candidates based on score</a:t>
            </a:r>
          </a:p>
          <a:p>
            <a:pPr algn="l">
              <a:lnSpc>
                <a:spcPts val="6159"/>
              </a:lnSpc>
              <a:spcBef>
                <a:spcPct val="0"/>
              </a:spcBef>
            </a:pPr>
          </a:p>
        </p:txBody>
      </p:sp>
      <p:sp>
        <p:nvSpPr>
          <p:cNvPr name="TextBox 4" id="4"/>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4421396" y="2124355"/>
            <a:ext cx="8672306" cy="7462257"/>
          </a:xfrm>
          <a:custGeom>
            <a:avLst/>
            <a:gdLst/>
            <a:ahLst/>
            <a:cxnLst/>
            <a:rect r="r" b="b" t="t" l="l"/>
            <a:pathLst>
              <a:path h="7462257" w="8672306">
                <a:moveTo>
                  <a:pt x="0" y="0"/>
                </a:moveTo>
                <a:lnTo>
                  <a:pt x="8672306" y="0"/>
                </a:lnTo>
                <a:lnTo>
                  <a:pt x="8672306" y="7462257"/>
                </a:lnTo>
                <a:lnTo>
                  <a:pt x="0" y="7462257"/>
                </a:lnTo>
                <a:lnTo>
                  <a:pt x="0" y="0"/>
                </a:lnTo>
                <a:close/>
              </a:path>
            </a:pathLst>
          </a:custGeom>
          <a:blipFill>
            <a:blip r:embed="rId2"/>
            <a:stretch>
              <a:fillRect l="0" t="0" r="-7018" b="0"/>
            </a:stretch>
          </a:blipFill>
        </p:spPr>
      </p:sp>
      <p:sp>
        <p:nvSpPr>
          <p:cNvPr name="TextBox 3" id="3"/>
          <p:cNvSpPr txBox="true"/>
          <p:nvPr/>
        </p:nvSpPr>
        <p:spPr>
          <a:xfrm rot="0">
            <a:off x="642249" y="923925"/>
            <a:ext cx="8115300" cy="872489"/>
          </a:xfrm>
          <a:prstGeom prst="rect">
            <a:avLst/>
          </a:prstGeom>
        </p:spPr>
        <p:txBody>
          <a:bodyPr anchor="t" rtlCol="false" tIns="0" lIns="0" bIns="0" rIns="0">
            <a:spAutoFit/>
          </a:bodyPr>
          <a:lstStyle/>
          <a:p>
            <a:pPr algn="l">
              <a:lnSpc>
                <a:spcPts val="6599"/>
              </a:lnSpc>
            </a:pPr>
            <a:r>
              <a:rPr lang="en-US" sz="6599" spc="-395">
                <a:solidFill>
                  <a:srgbClr val="8C7753"/>
                </a:solidFill>
                <a:latin typeface="Open Sauce"/>
                <a:ea typeface="Open Sauce"/>
                <a:cs typeface="Open Sauce"/>
                <a:sym typeface="Open Sauce"/>
              </a:rPr>
              <a:t>System Architecture</a:t>
            </a:r>
          </a:p>
        </p:txBody>
      </p:sp>
      <p:sp>
        <p:nvSpPr>
          <p:cNvPr name="TextBox 4" id="4"/>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3</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642249" y="923925"/>
            <a:ext cx="11234263" cy="872489"/>
          </a:xfrm>
          <a:prstGeom prst="rect">
            <a:avLst/>
          </a:prstGeom>
        </p:spPr>
        <p:txBody>
          <a:bodyPr anchor="t" rtlCol="false" tIns="0" lIns="0" bIns="0" rIns="0">
            <a:spAutoFit/>
          </a:bodyPr>
          <a:lstStyle/>
          <a:p>
            <a:pPr algn="l">
              <a:lnSpc>
                <a:spcPts val="6599"/>
              </a:lnSpc>
            </a:pPr>
            <a:r>
              <a:rPr lang="en-US" sz="6599" spc="-395">
                <a:solidFill>
                  <a:srgbClr val="8C7753"/>
                </a:solidFill>
                <a:latin typeface="Open Sauce"/>
                <a:ea typeface="Open Sauce"/>
                <a:cs typeface="Open Sauce"/>
                <a:sym typeface="Open Sauce"/>
              </a:rPr>
              <a:t>FRONTEND OVERVIEW</a:t>
            </a:r>
          </a:p>
        </p:txBody>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3</a:t>
            </a:r>
          </a:p>
        </p:txBody>
      </p:sp>
      <p:sp>
        <p:nvSpPr>
          <p:cNvPr name="TextBox 4" id="4"/>
          <p:cNvSpPr txBox="true"/>
          <p:nvPr/>
        </p:nvSpPr>
        <p:spPr>
          <a:xfrm rot="0">
            <a:off x="218875" y="2234564"/>
            <a:ext cx="17850251" cy="6788151"/>
          </a:xfrm>
          <a:prstGeom prst="rect">
            <a:avLst/>
          </a:prstGeom>
        </p:spPr>
        <p:txBody>
          <a:bodyPr anchor="t" rtlCol="false" tIns="0" lIns="0" bIns="0" rIns="0">
            <a:spAutoFit/>
          </a:bodyPr>
          <a:lstStyle/>
          <a:p>
            <a:pPr algn="just" marL="755642" indent="-377821" lvl="1">
              <a:lnSpc>
                <a:spcPts val="4899"/>
              </a:lnSpc>
              <a:buFont typeface="Arial"/>
              <a:buChar char="•"/>
            </a:pPr>
            <a:r>
              <a:rPr lang="en-US" sz="3499">
                <a:solidFill>
                  <a:srgbClr val="000000"/>
                </a:solidFill>
                <a:latin typeface="Open Sauce"/>
                <a:ea typeface="Open Sauce"/>
                <a:cs typeface="Open Sauce"/>
                <a:sym typeface="Open Sauce"/>
              </a:rPr>
              <a:t>Core Stack: Developed using React 19 and Vite for high performance and fast, reactive page loads.</a:t>
            </a:r>
          </a:p>
          <a:p>
            <a:pPr algn="just" marL="755642" indent="-377821" lvl="1">
              <a:lnSpc>
                <a:spcPts val="4899"/>
              </a:lnSpc>
              <a:buFont typeface="Arial"/>
              <a:buChar char="•"/>
            </a:pPr>
            <a:r>
              <a:rPr lang="en-US" sz="3499">
                <a:solidFill>
                  <a:srgbClr val="000000"/>
                </a:solidFill>
                <a:latin typeface="Open Sauce"/>
                <a:ea typeface="Open Sauce"/>
                <a:cs typeface="Open Sauce"/>
                <a:sym typeface="Open Sauce"/>
              </a:rPr>
              <a:t>Role-Based Portals: Dedicated, isolated dashboards for Candidates (apply, track, upload) and Recruiters (post jobs, review applicants).</a:t>
            </a:r>
          </a:p>
          <a:p>
            <a:pPr algn="just" marL="755642" indent="-377821" lvl="1">
              <a:lnSpc>
                <a:spcPts val="4899"/>
              </a:lnSpc>
              <a:buFont typeface="Arial"/>
              <a:buChar char="•"/>
            </a:pPr>
            <a:r>
              <a:rPr lang="en-US" sz="3499">
                <a:solidFill>
                  <a:srgbClr val="000000"/>
                </a:solidFill>
                <a:latin typeface="Open Sauce"/>
                <a:ea typeface="Open Sauce"/>
                <a:cs typeface="Open Sauce"/>
                <a:sym typeface="Open Sauce"/>
              </a:rPr>
              <a:t>Resume Upload &amp; Parsing: Drag-and-drop interface supporting PDF and DOCX files with instant upload status.</a:t>
            </a:r>
          </a:p>
          <a:p>
            <a:pPr algn="just" marL="755642" indent="-377821" lvl="1">
              <a:lnSpc>
                <a:spcPts val="4899"/>
              </a:lnSpc>
              <a:buFont typeface="Arial"/>
              <a:buChar char="•"/>
            </a:pPr>
            <a:r>
              <a:rPr lang="en-US" sz="3499">
                <a:solidFill>
                  <a:srgbClr val="000000"/>
                </a:solidFill>
                <a:latin typeface="Open Sauce"/>
                <a:ea typeface="Open Sauce"/>
                <a:cs typeface="Open Sauce"/>
                <a:sym typeface="Open Sauce"/>
              </a:rPr>
              <a:t>Visual Match Analytics: Displays real-time match percentages, matching skills, missing skill gaps, and experience breakdowns.</a:t>
            </a:r>
          </a:p>
          <a:p>
            <a:pPr algn="just" marL="755642" indent="-377821" lvl="1">
              <a:lnSpc>
                <a:spcPts val="4899"/>
              </a:lnSpc>
              <a:buFont typeface="Arial"/>
              <a:buChar char="•"/>
            </a:pPr>
            <a:r>
              <a:rPr lang="en-US" sz="3499">
                <a:solidFill>
                  <a:srgbClr val="000000"/>
                </a:solidFill>
                <a:latin typeface="Open Sauce"/>
                <a:ea typeface="Open Sauce"/>
                <a:cs typeface="Open Sauce"/>
                <a:sym typeface="Open Sauce"/>
              </a:rPr>
              <a:t>Clean UI Design: Styled with responsive CSS and Lucide React icons for an intuitive, modern user experience.</a:t>
            </a:r>
          </a:p>
          <a:p>
            <a:pPr algn="just">
              <a:lnSpc>
                <a:spcPts val="489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642249" y="923925"/>
            <a:ext cx="11234263" cy="872489"/>
          </a:xfrm>
          <a:prstGeom prst="rect">
            <a:avLst/>
          </a:prstGeom>
        </p:spPr>
        <p:txBody>
          <a:bodyPr anchor="t" rtlCol="false" tIns="0" lIns="0" bIns="0" rIns="0">
            <a:spAutoFit/>
          </a:bodyPr>
          <a:lstStyle/>
          <a:p>
            <a:pPr algn="l">
              <a:lnSpc>
                <a:spcPts val="6599"/>
              </a:lnSpc>
            </a:pPr>
            <a:r>
              <a:rPr lang="en-US" sz="6599" spc="-395">
                <a:solidFill>
                  <a:srgbClr val="8C7753"/>
                </a:solidFill>
                <a:latin typeface="Open Sauce"/>
                <a:ea typeface="Open Sauce"/>
                <a:cs typeface="Open Sauce"/>
                <a:sym typeface="Open Sauce"/>
              </a:rPr>
              <a:t>BACKEND OVERVIEW</a:t>
            </a:r>
          </a:p>
        </p:txBody>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3</a:t>
            </a:r>
          </a:p>
        </p:txBody>
      </p:sp>
      <p:sp>
        <p:nvSpPr>
          <p:cNvPr name="TextBox 4" id="4"/>
          <p:cNvSpPr txBox="true"/>
          <p:nvPr/>
        </p:nvSpPr>
        <p:spPr>
          <a:xfrm rot="0">
            <a:off x="218875" y="2234564"/>
            <a:ext cx="17850251" cy="6169026"/>
          </a:xfrm>
          <a:prstGeom prst="rect">
            <a:avLst/>
          </a:prstGeom>
        </p:spPr>
        <p:txBody>
          <a:bodyPr anchor="t" rtlCol="false" tIns="0" lIns="0" bIns="0" rIns="0">
            <a:spAutoFit/>
          </a:bodyPr>
          <a:lstStyle/>
          <a:p>
            <a:pPr algn="just" marL="755642" indent="-377821" lvl="1">
              <a:lnSpc>
                <a:spcPts val="4899"/>
              </a:lnSpc>
              <a:buFont typeface="Arial"/>
              <a:buChar char="•"/>
            </a:pPr>
            <a:r>
              <a:rPr lang="en-US" sz="3499">
                <a:solidFill>
                  <a:srgbClr val="000000"/>
                </a:solidFill>
                <a:latin typeface="Open Sauce"/>
                <a:ea typeface="Open Sauce"/>
                <a:cs typeface="Open Sauce"/>
                <a:sym typeface="Open Sauce"/>
              </a:rPr>
              <a:t>Dual-Service Architecture: Powered by a Node.js / Express REST API coordinating with a specialized Python FastAPI microservice.</a:t>
            </a:r>
          </a:p>
          <a:p>
            <a:pPr algn="just" marL="755642" indent="-377821" lvl="1">
              <a:lnSpc>
                <a:spcPts val="4899"/>
              </a:lnSpc>
              <a:buFont typeface="Arial"/>
              <a:buChar char="•"/>
            </a:pPr>
            <a:r>
              <a:rPr lang="en-US" sz="3499">
                <a:solidFill>
                  <a:srgbClr val="000000"/>
                </a:solidFill>
                <a:latin typeface="Open Sauce"/>
                <a:ea typeface="Open Sauce"/>
                <a:cs typeface="Open Sauce"/>
                <a:sym typeface="Open Sauce"/>
              </a:rPr>
              <a:t>S</a:t>
            </a:r>
            <a:r>
              <a:rPr lang="en-US" sz="3499">
                <a:solidFill>
                  <a:srgbClr val="000000"/>
                </a:solidFill>
                <a:latin typeface="Open Sauce"/>
                <a:ea typeface="Open Sauce"/>
                <a:cs typeface="Open Sauce"/>
                <a:sym typeface="Open Sauce"/>
              </a:rPr>
              <a:t>ecure Authentication: Implements JWT (JSON Web Tokens) and bcryptjs password hashing with strict role-based access control.</a:t>
            </a:r>
          </a:p>
          <a:p>
            <a:pPr algn="just" marL="755642" indent="-377821" lvl="1">
              <a:lnSpc>
                <a:spcPts val="4899"/>
              </a:lnSpc>
              <a:buFont typeface="Arial"/>
              <a:buChar char="•"/>
            </a:pPr>
            <a:r>
              <a:rPr lang="en-US" sz="3499">
                <a:solidFill>
                  <a:srgbClr val="000000"/>
                </a:solidFill>
                <a:latin typeface="Open Sauce"/>
                <a:ea typeface="Open Sauce"/>
                <a:cs typeface="Open Sauce"/>
                <a:sym typeface="Open Sauce"/>
              </a:rPr>
              <a:t>Databa</a:t>
            </a:r>
            <a:r>
              <a:rPr lang="en-US" sz="3499">
                <a:solidFill>
                  <a:srgbClr val="000000"/>
                </a:solidFill>
                <a:latin typeface="Open Sauce"/>
                <a:ea typeface="Open Sauce"/>
                <a:cs typeface="Open Sauce"/>
                <a:sym typeface="Open Sauce"/>
              </a:rPr>
              <a:t>se &amp; Persistence: Uses MongoDB with Mongoose ODM to store user profiles, job listings, parsed resume entities, and applications.</a:t>
            </a:r>
          </a:p>
          <a:p>
            <a:pPr algn="just" marL="755642" indent="-377821" lvl="1">
              <a:lnSpc>
                <a:spcPts val="4899"/>
              </a:lnSpc>
              <a:buFont typeface="Arial"/>
              <a:buChar char="•"/>
            </a:pPr>
            <a:r>
              <a:rPr lang="en-US" sz="3499">
                <a:solidFill>
                  <a:srgbClr val="000000"/>
                </a:solidFill>
                <a:latin typeface="Open Sauce"/>
                <a:ea typeface="Open Sauce"/>
                <a:cs typeface="Open Sauce"/>
                <a:sym typeface="Open Sauce"/>
              </a:rPr>
              <a:t>NLP &amp; Explainable Matching: Combines spaCy skill extraction with weighted scoring: $$\text{Match Score} = 60%\text{ Skills} + 25%\text{ Experience} + 15%\text{ Education}$$</a:t>
            </a:r>
          </a:p>
          <a:p>
            <a:pPr algn="just">
              <a:lnSpc>
                <a:spcPts val="489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366815" y="2246585"/>
            <a:ext cx="4446321" cy="6146206"/>
          </a:xfrm>
          <a:custGeom>
            <a:avLst/>
            <a:gdLst/>
            <a:ahLst/>
            <a:cxnLst/>
            <a:rect r="r" b="b" t="t" l="l"/>
            <a:pathLst>
              <a:path h="6146206" w="4446321">
                <a:moveTo>
                  <a:pt x="0" y="0"/>
                </a:moveTo>
                <a:lnTo>
                  <a:pt x="4446321" y="0"/>
                </a:lnTo>
                <a:lnTo>
                  <a:pt x="4446321" y="6146206"/>
                </a:lnTo>
                <a:lnTo>
                  <a:pt x="0" y="6146206"/>
                </a:lnTo>
                <a:lnTo>
                  <a:pt x="0" y="0"/>
                </a:lnTo>
                <a:close/>
              </a:path>
            </a:pathLst>
          </a:custGeom>
          <a:blipFill>
            <a:blip r:embed="rId2"/>
            <a:stretch>
              <a:fillRect l="0" t="0" r="0" b="-1434"/>
            </a:stretch>
          </a:blipFill>
        </p:spPr>
      </p:sp>
      <p:sp>
        <p:nvSpPr>
          <p:cNvPr name="Freeform 3" id="3"/>
          <p:cNvSpPr/>
          <p:nvPr/>
        </p:nvSpPr>
        <p:spPr>
          <a:xfrm flipH="false" flipV="false" rot="0">
            <a:off x="5175086" y="365960"/>
            <a:ext cx="6568861" cy="3761250"/>
          </a:xfrm>
          <a:custGeom>
            <a:avLst/>
            <a:gdLst/>
            <a:ahLst/>
            <a:cxnLst/>
            <a:rect r="r" b="b" t="t" l="l"/>
            <a:pathLst>
              <a:path h="3761250" w="6568861">
                <a:moveTo>
                  <a:pt x="0" y="0"/>
                </a:moveTo>
                <a:lnTo>
                  <a:pt x="6568861" y="0"/>
                </a:lnTo>
                <a:lnTo>
                  <a:pt x="6568861" y="3761250"/>
                </a:lnTo>
                <a:lnTo>
                  <a:pt x="0" y="3761250"/>
                </a:lnTo>
                <a:lnTo>
                  <a:pt x="0" y="0"/>
                </a:lnTo>
                <a:close/>
              </a:path>
            </a:pathLst>
          </a:custGeom>
          <a:blipFill>
            <a:blip r:embed="rId3"/>
            <a:stretch>
              <a:fillRect l="0" t="0" r="0" b="0"/>
            </a:stretch>
          </a:blipFill>
        </p:spPr>
      </p:sp>
      <p:sp>
        <p:nvSpPr>
          <p:cNvPr name="Freeform 4" id="4"/>
          <p:cNvSpPr/>
          <p:nvPr/>
        </p:nvSpPr>
        <p:spPr>
          <a:xfrm flipH="false" flipV="false" rot="0">
            <a:off x="5237587" y="4898292"/>
            <a:ext cx="6443858" cy="3716269"/>
          </a:xfrm>
          <a:custGeom>
            <a:avLst/>
            <a:gdLst/>
            <a:ahLst/>
            <a:cxnLst/>
            <a:rect r="r" b="b" t="t" l="l"/>
            <a:pathLst>
              <a:path h="3716269" w="6443858">
                <a:moveTo>
                  <a:pt x="0" y="0"/>
                </a:moveTo>
                <a:lnTo>
                  <a:pt x="6443859" y="0"/>
                </a:lnTo>
                <a:lnTo>
                  <a:pt x="6443859" y="3716269"/>
                </a:lnTo>
                <a:lnTo>
                  <a:pt x="0" y="3716269"/>
                </a:lnTo>
                <a:lnTo>
                  <a:pt x="0" y="0"/>
                </a:lnTo>
                <a:close/>
              </a:path>
            </a:pathLst>
          </a:custGeom>
          <a:blipFill>
            <a:blip r:embed="rId4"/>
            <a:stretch>
              <a:fillRect l="0" t="0" r="0" b="0"/>
            </a:stretch>
          </a:blipFill>
        </p:spPr>
      </p:sp>
      <p:sp>
        <p:nvSpPr>
          <p:cNvPr name="Freeform 5" id="5"/>
          <p:cNvSpPr/>
          <p:nvPr/>
        </p:nvSpPr>
        <p:spPr>
          <a:xfrm flipH="false" flipV="false" rot="0">
            <a:off x="12105897" y="541862"/>
            <a:ext cx="6017670" cy="3585348"/>
          </a:xfrm>
          <a:custGeom>
            <a:avLst/>
            <a:gdLst/>
            <a:ahLst/>
            <a:cxnLst/>
            <a:rect r="r" b="b" t="t" l="l"/>
            <a:pathLst>
              <a:path h="3585348" w="6017670">
                <a:moveTo>
                  <a:pt x="0" y="0"/>
                </a:moveTo>
                <a:lnTo>
                  <a:pt x="6017670" y="0"/>
                </a:lnTo>
                <a:lnTo>
                  <a:pt x="6017670" y="3585348"/>
                </a:lnTo>
                <a:lnTo>
                  <a:pt x="0" y="3585348"/>
                </a:lnTo>
                <a:lnTo>
                  <a:pt x="0" y="0"/>
                </a:lnTo>
                <a:close/>
              </a:path>
            </a:pathLst>
          </a:custGeom>
          <a:blipFill>
            <a:blip r:embed="rId5"/>
            <a:stretch>
              <a:fillRect l="-2579" t="0" r="-2579" b="0"/>
            </a:stretch>
          </a:blipFill>
        </p:spPr>
      </p:sp>
      <p:sp>
        <p:nvSpPr>
          <p:cNvPr name="Freeform 6" id="6"/>
          <p:cNvSpPr/>
          <p:nvPr/>
        </p:nvSpPr>
        <p:spPr>
          <a:xfrm flipH="false" flipV="false" rot="0">
            <a:off x="11957620" y="4898292"/>
            <a:ext cx="6042675" cy="3838585"/>
          </a:xfrm>
          <a:custGeom>
            <a:avLst/>
            <a:gdLst/>
            <a:ahLst/>
            <a:cxnLst/>
            <a:rect r="r" b="b" t="t" l="l"/>
            <a:pathLst>
              <a:path h="3838585" w="6042675">
                <a:moveTo>
                  <a:pt x="0" y="0"/>
                </a:moveTo>
                <a:lnTo>
                  <a:pt x="6042675" y="0"/>
                </a:lnTo>
                <a:lnTo>
                  <a:pt x="6042675" y="3838585"/>
                </a:lnTo>
                <a:lnTo>
                  <a:pt x="0" y="3838585"/>
                </a:lnTo>
                <a:lnTo>
                  <a:pt x="0" y="0"/>
                </a:lnTo>
                <a:close/>
              </a:path>
            </a:pathLst>
          </a:custGeom>
          <a:blipFill>
            <a:blip r:embed="rId6"/>
            <a:stretch>
              <a:fillRect l="0" t="0" r="0" b="0"/>
            </a:stretch>
          </a:blipFill>
        </p:spPr>
      </p:sp>
      <p:sp>
        <p:nvSpPr>
          <p:cNvPr name="TextBox 7" id="7"/>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3</a:t>
            </a:r>
          </a:p>
        </p:txBody>
      </p:sp>
      <p:sp>
        <p:nvSpPr>
          <p:cNvPr name="TextBox 8" id="8"/>
          <p:cNvSpPr txBox="true"/>
          <p:nvPr/>
        </p:nvSpPr>
        <p:spPr>
          <a:xfrm rot="0">
            <a:off x="366815" y="429259"/>
            <a:ext cx="4446321" cy="1623697"/>
          </a:xfrm>
          <a:prstGeom prst="rect">
            <a:avLst/>
          </a:prstGeom>
        </p:spPr>
        <p:txBody>
          <a:bodyPr anchor="t" rtlCol="false" tIns="0" lIns="0" bIns="0" rIns="0">
            <a:spAutoFit/>
          </a:bodyPr>
          <a:lstStyle/>
          <a:p>
            <a:pPr algn="ctr">
              <a:lnSpc>
                <a:spcPts val="6579"/>
              </a:lnSpc>
              <a:spcBef>
                <a:spcPct val="0"/>
              </a:spcBef>
            </a:pPr>
            <a:r>
              <a:rPr lang="en-US" sz="4699">
                <a:solidFill>
                  <a:srgbClr val="8C7753"/>
                </a:solidFill>
                <a:latin typeface="Open Sauce"/>
                <a:ea typeface="Open Sauce"/>
                <a:cs typeface="Open Sauce"/>
                <a:sym typeface="Open Sauce"/>
              </a:rPr>
              <a:t>WEBSITE OUTPUT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244794" y="410390"/>
            <a:ext cx="6575727" cy="4265155"/>
          </a:xfrm>
          <a:custGeom>
            <a:avLst/>
            <a:gdLst/>
            <a:ahLst/>
            <a:cxnLst/>
            <a:rect r="r" b="b" t="t" l="l"/>
            <a:pathLst>
              <a:path h="4265155" w="6575727">
                <a:moveTo>
                  <a:pt x="0" y="0"/>
                </a:moveTo>
                <a:lnTo>
                  <a:pt x="6575727" y="0"/>
                </a:lnTo>
                <a:lnTo>
                  <a:pt x="6575727" y="4265155"/>
                </a:lnTo>
                <a:lnTo>
                  <a:pt x="0" y="4265155"/>
                </a:lnTo>
                <a:lnTo>
                  <a:pt x="0" y="0"/>
                </a:lnTo>
                <a:close/>
              </a:path>
            </a:pathLst>
          </a:custGeom>
          <a:blipFill>
            <a:blip r:embed="rId2"/>
            <a:stretch>
              <a:fillRect l="0" t="0" r="0" b="0"/>
            </a:stretch>
          </a:blipFill>
        </p:spPr>
      </p:sp>
      <p:sp>
        <p:nvSpPr>
          <p:cNvPr name="Freeform 3" id="3"/>
          <p:cNvSpPr/>
          <p:nvPr/>
        </p:nvSpPr>
        <p:spPr>
          <a:xfrm flipH="false" flipV="false" rot="0">
            <a:off x="7633597" y="285969"/>
            <a:ext cx="8397082" cy="4352459"/>
          </a:xfrm>
          <a:custGeom>
            <a:avLst/>
            <a:gdLst/>
            <a:ahLst/>
            <a:cxnLst/>
            <a:rect r="r" b="b" t="t" l="l"/>
            <a:pathLst>
              <a:path h="4352459" w="8397082">
                <a:moveTo>
                  <a:pt x="0" y="0"/>
                </a:moveTo>
                <a:lnTo>
                  <a:pt x="8397082" y="0"/>
                </a:lnTo>
                <a:lnTo>
                  <a:pt x="8397082" y="4352459"/>
                </a:lnTo>
                <a:lnTo>
                  <a:pt x="0" y="4352459"/>
                </a:lnTo>
                <a:lnTo>
                  <a:pt x="0" y="0"/>
                </a:lnTo>
                <a:close/>
              </a:path>
            </a:pathLst>
          </a:custGeom>
          <a:blipFill>
            <a:blip r:embed="rId3"/>
            <a:stretch>
              <a:fillRect l="0" t="0" r="0" b="0"/>
            </a:stretch>
          </a:blipFill>
        </p:spPr>
      </p:sp>
      <p:sp>
        <p:nvSpPr>
          <p:cNvPr name="Freeform 4" id="4"/>
          <p:cNvSpPr/>
          <p:nvPr/>
        </p:nvSpPr>
        <p:spPr>
          <a:xfrm flipH="false" flipV="false" rot="0">
            <a:off x="244794" y="4939288"/>
            <a:ext cx="7824107" cy="4699140"/>
          </a:xfrm>
          <a:custGeom>
            <a:avLst/>
            <a:gdLst/>
            <a:ahLst/>
            <a:cxnLst/>
            <a:rect r="r" b="b" t="t" l="l"/>
            <a:pathLst>
              <a:path h="4699140" w="7824107">
                <a:moveTo>
                  <a:pt x="0" y="0"/>
                </a:moveTo>
                <a:lnTo>
                  <a:pt x="7824107" y="0"/>
                </a:lnTo>
                <a:lnTo>
                  <a:pt x="7824107" y="4699140"/>
                </a:lnTo>
                <a:lnTo>
                  <a:pt x="0" y="4699140"/>
                </a:lnTo>
                <a:lnTo>
                  <a:pt x="0" y="0"/>
                </a:lnTo>
                <a:close/>
              </a:path>
            </a:pathLst>
          </a:custGeom>
          <a:blipFill>
            <a:blip r:embed="rId4"/>
            <a:stretch>
              <a:fillRect l="0" t="0" r="0" b="0"/>
            </a:stretch>
          </a:blipFill>
        </p:spPr>
      </p:sp>
      <p:sp>
        <p:nvSpPr>
          <p:cNvPr name="Freeform 5" id="5"/>
          <p:cNvSpPr/>
          <p:nvPr/>
        </p:nvSpPr>
        <p:spPr>
          <a:xfrm flipH="false" flipV="false" rot="0">
            <a:off x="9144000" y="4638428"/>
            <a:ext cx="5922986" cy="5300859"/>
          </a:xfrm>
          <a:custGeom>
            <a:avLst/>
            <a:gdLst/>
            <a:ahLst/>
            <a:cxnLst/>
            <a:rect r="r" b="b" t="t" l="l"/>
            <a:pathLst>
              <a:path h="5300859" w="5922986">
                <a:moveTo>
                  <a:pt x="0" y="0"/>
                </a:moveTo>
                <a:lnTo>
                  <a:pt x="5922986" y="0"/>
                </a:lnTo>
                <a:lnTo>
                  <a:pt x="5922986" y="5300859"/>
                </a:lnTo>
                <a:lnTo>
                  <a:pt x="0" y="5300859"/>
                </a:lnTo>
                <a:lnTo>
                  <a:pt x="0" y="0"/>
                </a:lnTo>
                <a:close/>
              </a:path>
            </a:pathLst>
          </a:custGeom>
          <a:blipFill>
            <a:blip r:embed="rId5"/>
            <a:stretch>
              <a:fillRect l="0" t="0" r="0" b="0"/>
            </a:stretch>
          </a:blipFill>
        </p:spPr>
      </p:sp>
      <p:sp>
        <p:nvSpPr>
          <p:cNvPr name="TextBox 6" id="6"/>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3</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1762" y="4037215"/>
            <a:ext cx="10910528" cy="1735035"/>
          </a:xfrm>
          <a:prstGeom prst="rect">
            <a:avLst/>
          </a:prstGeom>
        </p:spPr>
        <p:txBody>
          <a:bodyPr anchor="t" rtlCol="false" tIns="0" lIns="0" bIns="0" rIns="0">
            <a:spAutoFit/>
          </a:bodyPr>
          <a:lstStyle/>
          <a:p>
            <a:pPr algn="l">
              <a:lnSpc>
                <a:spcPts val="13040"/>
              </a:lnSpc>
            </a:pPr>
            <a:r>
              <a:rPr lang="en-US" sz="13040" spc="-782">
                <a:solidFill>
                  <a:srgbClr val="331B0D"/>
                </a:solidFill>
                <a:latin typeface="Open Sauce"/>
                <a:ea typeface="Open Sauce"/>
                <a:cs typeface="Open Sauce"/>
                <a:sym typeface="Open Sauc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DAHW3L8P3Ac</dc:identifier>
  <dcterms:modified xsi:type="dcterms:W3CDTF">2011-08-01T06:04:30Z</dcterms:modified>
  <cp:revision>1</cp:revision>
  <dc:title>White Beige and Brown Simple Minimalist Clean Final Project Presentation</dc:title>
</cp:coreProperties>
</file>